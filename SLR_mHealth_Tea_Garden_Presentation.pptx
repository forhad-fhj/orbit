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e068154f9c4582" /><Relationship Type="http://schemas.openxmlformats.org/officeDocument/2006/relationships/extended-properties" Target="/docProps/app.xml" Id="R9d3e6202b8a24278" /><Relationship Type="http://schemas.openxmlformats.org/officeDocument/2006/relationships/officeDocument" Target="/ppt/presentation.xml" Id="R0d6cabaa472f45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50ef169d934b1e"/>
  </p:sldMasterIdLst>
  <p:notesMasterIdLst>
    <p:notesMasterId xmlns:r="http://schemas.openxmlformats.org/officeDocument/2006/relationships" r:id="R68d50bd07de041ae"/>
  </p:notesMasterIdLst>
  <p:sldIdLst>
    <p:sldId xmlns:r="http://schemas.openxmlformats.org/officeDocument/2006/relationships" id="256" r:id="Rc14eb22ff56b4b99"/>
    <p:sldId xmlns:r="http://schemas.openxmlformats.org/officeDocument/2006/relationships" id="257" r:id="R49be93be1a6e4ec9"/>
    <p:sldId xmlns:r="http://schemas.openxmlformats.org/officeDocument/2006/relationships" id="258" r:id="Rf4601f84c7b24513"/>
    <p:sldId xmlns:r="http://schemas.openxmlformats.org/officeDocument/2006/relationships" id="259" r:id="R4b157f04fbd04a4c"/>
    <p:sldId xmlns:r="http://schemas.openxmlformats.org/officeDocument/2006/relationships" id="260" r:id="Rafbb28d458a8479e"/>
    <p:sldId xmlns:r="http://schemas.openxmlformats.org/officeDocument/2006/relationships" id="261" r:id="Rf124c03e6b5e4c55"/>
    <p:sldId xmlns:r="http://schemas.openxmlformats.org/officeDocument/2006/relationships" id="262" r:id="R2ec604e79cdb415c"/>
    <p:sldId xmlns:r="http://schemas.openxmlformats.org/officeDocument/2006/relationships" id="263" r:id="R289adc222c48455c"/>
    <p:sldId xmlns:r="http://schemas.openxmlformats.org/officeDocument/2006/relationships" id="264" r:id="Rc82a642e37ca4872"/>
    <p:sldId xmlns:r="http://schemas.openxmlformats.org/officeDocument/2006/relationships" id="265" r:id="R1c0d1d813839468f"/>
    <p:sldId xmlns:r="http://schemas.openxmlformats.org/officeDocument/2006/relationships" id="266" r:id="R2d6be13bc2844ea6"/>
    <p:sldId xmlns:r="http://schemas.openxmlformats.org/officeDocument/2006/relationships" id="267" r:id="R825650e4e3a5460b"/>
    <p:sldId xmlns:r="http://schemas.openxmlformats.org/officeDocument/2006/relationships" id="268" r:id="R7fc00a3166f54a10"/>
    <p:sldId xmlns:r="http://schemas.openxmlformats.org/officeDocument/2006/relationships" id="269" r:id="R45f47b0538c74f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f9431cd4346ff" /><Relationship Type="http://schemas.openxmlformats.org/officeDocument/2006/relationships/slideMaster" Target="/ppt/slideMasters/slideMaster1.xml" Id="Raf50ef169d934b1e" /><Relationship Type="http://schemas.openxmlformats.org/officeDocument/2006/relationships/notesMaster" Target="/ppt/notesMasters/notesMaster1.xml" Id="R68d50bd07de041ae" /><Relationship Type="http://schemas.openxmlformats.org/officeDocument/2006/relationships/presProps" Target="/ppt/presProps.xml" Id="Ra49bb2086ae94386" /><Relationship Type="http://schemas.openxmlformats.org/officeDocument/2006/relationships/tableStyles" Target="/ppt/tableStyles.xml" Id="R42ff817cd8eb4e2c" /><Relationship Type="http://schemas.openxmlformats.org/officeDocument/2006/relationships/slide" Target="/ppt/slides/slide1.xml" Id="Rc14eb22ff56b4b99" /><Relationship Type="http://schemas.openxmlformats.org/officeDocument/2006/relationships/slide" Target="/ppt/slides/slide2.xml" Id="R49be93be1a6e4ec9" /><Relationship Type="http://schemas.openxmlformats.org/officeDocument/2006/relationships/slide" Target="/ppt/slides/slide3.xml" Id="Rf4601f84c7b24513" /><Relationship Type="http://schemas.openxmlformats.org/officeDocument/2006/relationships/slide" Target="/ppt/slides/slide4.xml" Id="R4b157f04fbd04a4c" /><Relationship Type="http://schemas.openxmlformats.org/officeDocument/2006/relationships/slide" Target="/ppt/slides/slide5.xml" Id="Rafbb28d458a8479e" /><Relationship Type="http://schemas.openxmlformats.org/officeDocument/2006/relationships/slide" Target="/ppt/slides/slide6.xml" Id="Rf124c03e6b5e4c55" /><Relationship Type="http://schemas.openxmlformats.org/officeDocument/2006/relationships/slide" Target="/ppt/slides/slide7.xml" Id="R2ec604e79cdb415c" /><Relationship Type="http://schemas.openxmlformats.org/officeDocument/2006/relationships/slide" Target="/ppt/slides/slide8.xml" Id="R289adc222c48455c" /><Relationship Type="http://schemas.openxmlformats.org/officeDocument/2006/relationships/slide" Target="/ppt/slides/slide9.xml" Id="Rc82a642e37ca4872" /><Relationship Type="http://schemas.openxmlformats.org/officeDocument/2006/relationships/slide" Target="/ppt/slides/slide10.xml" Id="R1c0d1d813839468f" /><Relationship Type="http://schemas.openxmlformats.org/officeDocument/2006/relationships/slide" Target="/ppt/slides/slide11.xml" Id="R2d6be13bc2844ea6" /><Relationship Type="http://schemas.openxmlformats.org/officeDocument/2006/relationships/slide" Target="/ppt/slides/slide12.xml" Id="R825650e4e3a5460b" /><Relationship Type="http://schemas.openxmlformats.org/officeDocument/2006/relationships/slide" Target="/ppt/slides/slide13.xml" Id="R7fc00a3166f54a10" /><Relationship Type="http://schemas.openxmlformats.org/officeDocument/2006/relationships/slide" Target="/ppt/slides/slide14.xml" Id="R45f47b0538c7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e54b89d344b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33e445e43f43b6" /><Relationship Type="http://schemas.openxmlformats.org/officeDocument/2006/relationships/notesMaster" Target="/ppt/notesMasters/notesMaster1.xml" Id="R3d00e5da5d164a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333c60cd904e22" /><Relationship Type="http://schemas.openxmlformats.org/officeDocument/2006/relationships/notesMaster" Target="/ppt/notesMasters/notesMaster1.xml" Id="R060dacfccff54c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e56018fc534525" /><Relationship Type="http://schemas.openxmlformats.org/officeDocument/2006/relationships/notesMaster" Target="/ppt/notesMasters/notesMaster1.xml" Id="Rf7a90bf6fb0741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ed4058bdc0493d" /><Relationship Type="http://schemas.openxmlformats.org/officeDocument/2006/relationships/notesMaster" Target="/ppt/notesMasters/notesMaster1.xml" Id="Rffb14172e0274e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3809f15d5f4b78" /><Relationship Type="http://schemas.openxmlformats.org/officeDocument/2006/relationships/notesMaster" Target="/ppt/notesMasters/notesMaster1.xml" Id="Rfe33e8c3089147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16bd7f4a7841b3" /><Relationship Type="http://schemas.openxmlformats.org/officeDocument/2006/relationships/notesMaster" Target="/ppt/notesMasters/notesMaster1.xml" Id="R872849cc7c7a4d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462fcd3c654255" /><Relationship Type="http://schemas.openxmlformats.org/officeDocument/2006/relationships/notesMaster" Target="/ppt/notesMasters/notesMaster1.xml" Id="R00b88ee324594b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0ce6ebfe01432b" /><Relationship Type="http://schemas.openxmlformats.org/officeDocument/2006/relationships/notesMaster" Target="/ppt/notesMasters/notesMaster1.xml" Id="R51a6d79c67754f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bcba3c444f4f9e" /><Relationship Type="http://schemas.openxmlformats.org/officeDocument/2006/relationships/notesMaster" Target="/ppt/notesMasters/notesMaster1.xml" Id="R486d0f88824a43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492af99ec9411f" /><Relationship Type="http://schemas.openxmlformats.org/officeDocument/2006/relationships/notesMaster" Target="/ppt/notesMasters/notesMaster1.xml" Id="R788752f6c41a4a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e939636d8e41a8" /><Relationship Type="http://schemas.openxmlformats.org/officeDocument/2006/relationships/notesMaster" Target="/ppt/notesMasters/notesMaster1.xml" Id="R12212436638c48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a5608320fe4751" /><Relationship Type="http://schemas.openxmlformats.org/officeDocument/2006/relationships/notesMaster" Target="/ppt/notesMasters/notesMaster1.xml" Id="R669150190df74c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371ff5a23144c4" /><Relationship Type="http://schemas.openxmlformats.org/officeDocument/2006/relationships/notesMaster" Target="/ppt/notesMasters/notesMaster1.xml" Id="R2225fe4ae8054e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5acb12b8fe4864" /><Relationship Type="http://schemas.openxmlformats.org/officeDocument/2006/relationships/notesMaster" Target="/ppt/notesMasters/notesMaster1.xml" Id="R5c9471d5566b47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the review question: whether a CHW-assisted mHealth app can realistically improve maternal and child health awareness among tea-garden families in Sylhet. Position the deck as evidence synthesis plus design implications.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 1: title and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paper focuses on tea gardens rather than Bangladesh as a whole. National averages hide a specific mix of poverty, language, low literacy, hard-to-reach clinics, and employer-controlled plantation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1-3: introduction and tea-garden health context.</a:t>
            </a:r>
          </a:p>
          <a:p xmlns:a="http://schemas.openxmlformats.org/drawingml/2006/main">
            <a:r>
              <a:t>SLR.pdf, page 2: mobile subscription context and access barriers.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deepens the context from the previous one. Emphasize that the intervention has to work across health, social, language, and infrastructure barriers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2-4: tea-garden health burdens, low literacy, device sharing, and connectivity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research questions to show that the review is not only medical. It connects maternal health outcomes, CHW workflow, and human-computer interaction.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 5: questions guiding the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search was deliberately interdisciplinary. A maternal health app for tea gardens cannot be assessed only through clinical papers; usability and CHW delivery literature matter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5-7: search strings, database list, and Boolean search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concise: the point is credibility and scope. Mention that the final 45 papers were read in full and thematically analyzed.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6-7: source distribution and paper-pool narrowing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into the evidence slides. The five themes are the heart of the review and give the presentation its professional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7-9: five thematic clusters from the analysis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numbers carefully. Make it clear the chart is a presentation aid, not a formal meta-analysis. The review supports cautious confidence, not overclaiming.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 4: ANC attendance, vaccination, CHW effectiveness, and health knowledge evidence.</a:t>
            </a:r>
          </a:p>
          <a:p xmlns:a="http://schemas.openxmlformats.org/drawingml/2006/main">
            <a:r>
              <a:t>SLR.pdf, page 11: limitation about heterogeneous study designs and no formal meta-analysis.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sound human, not technical. The CHW is the connective tissue: she interprets messages, follows up, and helps families decide when to seek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7-8: CHWs as linchpin, Bangladesh CHW coverage evidence, and motivation concern.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most design-oriented slide. The review argues that a normal text-heavy app would fail many intended users, so HCI choices are core health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3 and 8: low-literacy HCI evidence, pictorial interfaces, voice narration, flat menus, and local language need.</a:t>
            </a:r>
          </a:p>
          <a:p xmlns:a="http://schemas.openxmlformats.org/drawingml/2006/main">
            <a:r>
              <a:t>SLR.pdf, page 12: shared-phone and network-reliability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this is a literature-grounded architecture, not a validated product. It shows what the evidence points toward for prototyping.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9-10: proposed feature map and feature-rationale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overclaiming. The review's strongest scholarly contribution may be identifying the absence of direct tea-garden 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8-9: absence of peer-reviewed mHealth trials inside Bangladeshi tea gardens and limits of adjacent evidence.</a:t>
            </a:r>
          </a:p>
          <a:p xmlns:a="http://schemas.openxmlformats.org/drawingml/2006/main">
            <a:r>
              <a:t>SLR.pdf, page 13: distinctive tea-garden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professional presentation should not hide limitations. Explain that these constraints do not invalidate the review; they clarify what the next research step must test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9-12: review limitations, search cutoff, heterogeneity, and need to map the technology landscape.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paper's balanced answer: CHW-backed mHealth is promising because reminders, CHW support, pictorial design, voice, and offline function all have support. But deployment should wait for participatory design and a proper trial in the actual tea-garden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11-13: research directions and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e931ad49741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a898f0ae04b8b" /><Relationship Type="http://schemas.openxmlformats.org/officeDocument/2006/relationships/slideLayout" Target="/ppt/slideLayouts/slideLayout1.xml" Id="Rf1dd04048b024f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d04048b024f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f38a325de4b72" /><Relationship Type="http://schemas.openxmlformats.org/officeDocument/2006/relationships/notesSlide" Target="/ppt/notesSlides/notesSlide1.xml" Id="R0848661a825f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94d7f7868491e" /><Relationship Type="http://schemas.openxmlformats.org/officeDocument/2006/relationships/notesSlide" Target="/ppt/notesSlides/notesSlide2.xml" Id="R2dc6d03b41a844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7b3a073544417" /><Relationship Type="http://schemas.openxmlformats.org/officeDocument/2006/relationships/notesSlide" Target="/ppt/notesSlides/notesSlide3.xml" Id="R08dd15e9352e48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722caf2d64bee" /><Relationship Type="http://schemas.openxmlformats.org/officeDocument/2006/relationships/notesSlide" Target="/ppt/notesSlides/notesSlide4.xml" Id="R97fbc6a2fd264c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211d36bb94942" /><Relationship Type="http://schemas.openxmlformats.org/officeDocument/2006/relationships/notesSlide" Target="/ppt/notesSlides/notesSlide5.xml" Id="R21c11842aa1344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9a6081abe4cc5" /><Relationship Type="http://schemas.openxmlformats.org/officeDocument/2006/relationships/chart" Target="/ppt/slides/charts/chart1.xml" Id="R52bf771b7b2d43cb" /><Relationship Type="http://schemas.openxmlformats.org/officeDocument/2006/relationships/notesSlide" Target="/ppt/notesSlides/notesSlide6.xml" Id="R518739724c54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ac96350dc40a0" /><Relationship Type="http://schemas.openxmlformats.org/officeDocument/2006/relationships/notesSlide" Target="/ppt/notesSlides/notesSlide7.xml" Id="R9e0c9e39f19b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11546211a465c" /><Relationship Type="http://schemas.openxmlformats.org/officeDocument/2006/relationships/chart" Target="/ppt/slides/charts/chart2.xml" Id="R37caaaad42d14a52" /><Relationship Type="http://schemas.openxmlformats.org/officeDocument/2006/relationships/notesSlide" Target="/ppt/notesSlides/notesSlide8.xml" Id="R4f137d9b41b445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d1e4e7b874a18" /><Relationship Type="http://schemas.openxmlformats.org/officeDocument/2006/relationships/notesSlide" Target="/ppt/notesSlides/notesSlide9.xml" Id="R4f919c2ee5d94d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bbf11997342d0" /><Relationship Type="http://schemas.openxmlformats.org/officeDocument/2006/relationships/notesSlide" Target="/ppt/notesSlides/notesSlide10.xml" Id="R03040c5e7b9e44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c6495498046d4" /><Relationship Type="http://schemas.openxmlformats.org/officeDocument/2006/relationships/notesSlide" Target="/ppt/notesSlides/notesSlide11.xml" Id="R9c810b800a5840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3f58f5da54b3b" /><Relationship Type="http://schemas.openxmlformats.org/officeDocument/2006/relationships/notesSlide" Target="/ppt/notesSlides/notesSlide12.xml" Id="R4bc5ecbac84947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fcc154b444eed" /><Relationship Type="http://schemas.openxmlformats.org/officeDocument/2006/relationships/notesSlide" Target="/ppt/notesSlides/notesSlide13.xml" Id="Rd6c11db14f344a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11cd8f9594d6f" /><Relationship Type="http://schemas.openxmlformats.org/officeDocument/2006/relationships/notesSlide" Target="/ppt/notesSlides/notesSlide14.xml" Id="R37893c988d8f498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Papers left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Initial</c:v>
              </c:pt>
              <c:pt idx="1">
                <c:v>Title screen</c:v>
              </c:pt>
              <c:pt idx="2">
                <c:v>Abstract review</c:v>
              </c:pt>
              <c:pt idx="3">
                <c:v>Full text</c:v>
              </c:pt>
            </c:strLit>
          </c:cat>
          <c:val>
            <c:numLit>
              <c:formatCode>General</c:formatCode>
              <c:ptCount val="4"/>
              <c:pt idx="0">
                <c:v>158</c:v>
              </c:pt>
              <c:pt idx="1">
                <c:v>82</c:v>
              </c:pt>
              <c:pt idx="2">
                <c:v>45</c:v>
              </c:pt>
              <c:pt idx="3">
                <c:v>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270"/>
                </a:solidFill>
              </a:defRPr>
            </a:pPr>
          </a:p>
        </c:txPr>
        <c:crossAx val="48650112"/>
        <c:crossBetween val="between"/>
        <c:majorUnit val="4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Evidence signal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ANC attendance</c:v>
              </c:pt>
              <c:pt idx="1">
                <c:v>Vaccination odds</c:v>
              </c:pt>
              <c:pt idx="2">
                <c:v>BD uptake</c:v>
              </c:pt>
              <c:pt idx="3">
                <c:v>CHW coverage</c:v>
              </c:pt>
            </c:strLit>
          </c:cat>
          <c:val>
            <c:numLit>
              <c:formatCode>General</c:formatCode>
              <c:ptCount val="4"/>
              <c:pt idx="0">
                <c:v>30</c:v>
              </c:pt>
              <c:pt idx="1">
                <c:v>2.15</c:v>
              </c:pt>
              <c:pt idx="2">
                <c:v>3.6</c:v>
              </c:pt>
              <c:pt idx="3">
                <c:v>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2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5227A-49AB-445B-8E1B-81614F53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SYSTEMATIC 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A78B5-513B-4AA1-B12B-5DD433AF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F20AD-97B1-4868-910C-26E9211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CHW-Assisted mHealth for Sylhet Tea-Garden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523C9-EFD2-43E5-9923-3F991402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Strengthening maternal and child health awareness through evidence-based, low-literacy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02846-7C99-4DEC-8269-346238C2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Md. Forhad Hasan Jewel and Muhammad Milon</a:t>
            </a:r>
          </a:p>
        </p:txBody>
      </p:sp>
    </p:spTree>
    <p:extLst>
      <p:ext uri="{BB962C8B-B14F-4D97-AF65-F5344CB8AC3E}">
        <p14:creationId xmlns:p14="http://schemas.microsoft.com/office/powerpoint/2010/main" val="827175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44FA2-AB7C-4722-AA56-471B650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Sylhet tea gardens need a solution designed for their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77951-659C-41E2-80FF-6321C2F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378ED-057D-42D3-9BB8-3D8870F8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8BFAF-0C0E-47C1-AA28-FB205883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343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85C56-C422-4344-ADD0-D2F0556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05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360k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7053F-FBFB-4A1A-BD87-ED6335AA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workers and family members on Sylhet tea plantations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EFF69-9BE1-47A2-9038-DA79BB54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2343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FC40E-5FF2-45FF-A07F-EA923093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14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05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C8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C8B68"/>
                </a:solidFill>
                <a:latin typeface="Helvetica Neue"/>
                <a:ea typeface="Helvetica Neue"/>
                <a:cs typeface="Helvetica Neue"/>
              </a:rPr>
              <a:t>2/3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A6740-6100-4E2C-8418-CA43614C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24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women and girls form a major share of the workforce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6EF17-E0D0-4405-AF98-CB4BE57D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343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F4FB4-69CE-4B0B-81ED-39A14E8F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05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rPr>
              <a:t>BDT 187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717C8-3916-463B-A105-306E310B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daily wage leaves little margin for maternal nutrition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16F30-FE52-49BB-B541-A693CE13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343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7559A-ACBF-4134-BF14-27057ADC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14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05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180m+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70DFE-56E4-4A55-98CB-A7E6E2D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24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mobile subscriptions make phone-based support plausible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33705-4A0D-4D30-982A-2017A8B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144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333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design challenge is not only sending messages. It is making guidance understandable, trusted, reachable, and usable under plantation conditions.</a:t>
            </a:r>
          </a:p>
        </p:txBody>
      </p:sp>
    </p:spTree>
    <p:extLst>
      <p:ext uri="{BB962C8B-B14F-4D97-AF65-F5344CB8AC3E}">
        <p14:creationId xmlns:p14="http://schemas.microsoft.com/office/powerpoint/2010/main" val="175870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7A691-7186-445B-A852-268291C8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health burden is created by overlapping barriers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AC04B-E298-428C-B59E-4816694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93F83-3C78-4709-A1DD-94EFE278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509A-88DC-44B3-97EC-ACE010AA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Health and service barriers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631DB-6AA1-4E5B-8624-482451B0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2E19A-1640-4EE4-B28D-A6EE299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Rare antenatal and postnatal check-ups delay early risk detection.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58578-34FF-4FBE-90DE-53B79C51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E062B-A245-4850-9F38-D55500F7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337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Vaccination schedules slip when dates, travel, and clinic access do not line 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A8062-4465-40EC-863A-B40A7C0F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9C48B-567B-4F6E-9D63-773B5818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00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Pregnancy diet often stays unchanged despite anemia and undernutrition risks.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95A06-75CD-4839-94B8-350A32A6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Social and technical barriers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1AFFC-D8B6-444F-AFE7-71CE12A2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B0425-B3D7-4594-87FE-6AC08609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669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Functional literacy is limited, so text-heavy interfaces exclude many users.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25D4A-A621-41EB-93D5-4D938997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01251-4D06-4892-B603-2BF0D610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9337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Families may share one phone, often controlled by someone other than the mother.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23DE8-184C-4DEF-8141-CBB28CEC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3CF81-682C-4628-9599-570FEC01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00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Rain, weak signal, and low-end devices make always-online apps fragile.</a:t>
            </a:r>
          </a:p>
        </p:txBody>
      </p:sp>
    </p:spTree>
    <p:extLst>
      <p:ext uri="{BB962C8B-B14F-4D97-AF65-F5344CB8AC3E}">
        <p14:creationId xmlns:p14="http://schemas.microsoft.com/office/powerpoint/2010/main" val="702845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2AF49-2695-4982-AB56-E34FFDF5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review asks what can be trusted before building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B0570-4244-4093-81F8-98A3135B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B0243-E3FE-4ACC-BABC-CC5DE5B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RESEARCH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B012-7A4A-407C-8AD2-A173D442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The paper does not claim a finished product. It asks what existing evidence can support, and where field research is still required.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7DA84-2D41-4FFF-AE99-C7E4B231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9B16F-C714-4211-A5DD-C840C63C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C4D44-909A-4D00-B160-89A7EBEB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60DEB-E2A6-43D9-AFCA-7F01F7A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3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usability barriers and socio-technical friction points would mothers and CHWs face?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42887-E02E-4C68-B85D-088B295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7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Focus: literacy, language, shared phones, infrastructure, trust.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C951B-8CFB-4B78-B075-D78F52E4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D66D2-CC87-4BE5-A8E6-69E2B019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6D399-F4B7-4C1C-B6F8-7AF5B88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718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3119A-000C-4284-8E6A-4D3B826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783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could CHW-mediated audio and mobile guidance improve awareness and timely care-seeking?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6B2AC-0D76-4E39-AF09-D7E967D9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057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56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Focus: health knowledge, retention, reminders, referral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454F5-88CD-465F-8F36-BE558FEA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3DB18-5037-4527-B166-A1CE110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5C"/>
          </a:solidFill>
          <a:ln xmlns:a="http://schemas.openxmlformats.org/drawingml/2006/main" w="9525">
            <a:solidFill>
              <a:srgbClr val="D85C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D598B-A39B-4B80-AD3F-ACE50A31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0558B-DAEB-4614-B6D3-53363FA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3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HCI features matter most for usability and sustained adoption?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46C1E-F25F-474E-892B-2C730203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2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Focus: pictorial checklists, audio, offline use, CHW dashboards.</a:t>
            </a:r>
          </a:p>
        </p:txBody>
      </p:sp>
    </p:spTree>
    <p:extLst>
      <p:ext uri="{BB962C8B-B14F-4D97-AF65-F5344CB8AC3E}">
        <p14:creationId xmlns:p14="http://schemas.microsoft.com/office/powerpoint/2010/main" val="194712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1BA4B-8100-4E73-8776-BAA9782C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search combined health delivery, CHWs, HCI, and tea gardens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94563-0703-47D8-B561-0AE61819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D19E2-A2DA-4C42-8572-376320C7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934DD-9AE9-488C-917A-3F51B27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2DB11-0AB7-41E4-A463-71F5BC8D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116B0-9BF7-42FC-B9CD-96755C1A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9145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mHealth app + community health worker + maternal health + Bangladesh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3D1AE-1C4D-4CD4-851B-1673023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ADDB3-2A7F-4FE0-8F92-0624ACC6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F85D5-7E15-47AF-BF64-AE1B59B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mHealth + child health + low-resource + Bangladesh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4B788-1D59-4991-B70E-2447060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A5ADB-4EA1-4536-9D7D-6ADBD74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242F8-FD9D-4AF0-9523-838BA513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908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HCI + mHealth + low-literacy + maternal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17298-21F2-47E5-9506-0E3F09A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AEE56-0DD7-4365-A2AA-17B51E14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604D4-BD16-4127-8C51-B1618AC0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29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 garden workers + health + maternal + Bangladesh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36D29-B204-4831-9F7F-B950DA6F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44094-AE4F-4754-8956-0F3BD3B3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B6F19-C6E4-427A-8ECD-CE8B5ED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672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mobile health app + vaccination + reminders + rural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CC96A-B217-41B5-8E96-90B1B51D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Databases: Google Scholar, IEEE Xplore, ACM Digital Library, PubMed/PMC, and ScienceDirect.</a:t>
            </a:r>
          </a:p>
        </p:txBody>
      </p:sp>
    </p:spTree>
    <p:extLst>
      <p:ext uri="{BB962C8B-B14F-4D97-AF65-F5344CB8AC3E}">
        <p14:creationId xmlns:p14="http://schemas.microsoft.com/office/powerpoint/2010/main" val="941338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555DC-AA2F-4987-904B-57AD21D6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final evidence base included 45 papers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9DE95-7ACC-413C-8876-4A5906D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F7DC3-B2B4-4654-8E0E-0A2DC92E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 BASE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50006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bf771b7b2d43c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6576C-A675-49D4-8ECF-4E4FB0E1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9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Retrieved papers by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C372F-0DC8-4C96-A048-5FFD09FE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66950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81116-117B-4B07-A42E-C8EBD3D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Google Scholar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4DD00-B9D0-434E-AF7F-8775D674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FDB02-4F38-4E7C-A0A1-CA05D81F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90825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927F6-61BF-48E3-ACDA-3FEBCF32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670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PubMed / PMC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22AAA-A11E-460F-AE11-52AAD105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67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8F031-F179-40EC-9AF2-2609A40F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14700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89405-B26B-48AB-9F6E-3A745BD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IEEE Xplore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FEB08-0FF3-4F9E-879A-787F701B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909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EF0AB-EA25-4CC5-8B9C-D13D5C20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38575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8BABE-E25D-4D17-B371-AAA9DAFA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4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ACM Digital Library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5730F-8755-4E62-84D5-1E950025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147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14C24-7BB1-4925-B61D-14606F7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62450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B19BF-24E5-4F25-B15B-D59783DC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38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ScienceDirect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F6C7C-C3EE-466F-9D7D-5CB7422F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38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58385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4775F4-2C79-49AB-9AC7-87F4F1A1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themes explain what the literature is really saying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B5904-54D8-4497-932D-1EC86563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7A42C-3287-48EE-9A74-4CFD5299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4E723-FFBC-4319-A0E2-D068E1E8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81566-94FA-40A0-B44A-4078EED2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C0D14-FD61-4E8C-925C-8DEF3B4A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81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CHWs are the linchpin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58D6B-7AB0-492F-8746-99DE103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They translate, explain, follow up, and create trust.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3D0BE-7644-4F54-9C5A-52030CC2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EC972-1A05-4653-9A28-6655FE0C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62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960D3-149A-4A76-853B-6912E12F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81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Text-only interfaces 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F4C34-D218-42A3-8C35-2F3E3A18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0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Pictures and voice are essential for low-literacy users.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78C07-AC2F-4376-9A4C-08947884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3EA3D-1B5C-45C0-834A-2B4F531B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62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2781B-3DD4-45CE-9B3C-096A557D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28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Voice helps, infrastructure limits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FF830-3312-4CA4-9350-9CA4463E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193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5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Pre-loaded audio avoids failed calls and weak networks.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8C502-2C9A-4D57-BA2E-B9B692FF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4337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735B8-1CE4-4EB0-98AD-8D93EC6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529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7118C-B985-40BF-8521-D8843738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3719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5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Reminders change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49EBD-9814-4E98-8962-BE40C03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8101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6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Vaccination and ANC reminders show measurable gains.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5B4F4-8537-4406-AC84-15FD857B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4337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E23E7-8B42-48B9-8708-63CFDA01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529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B28A0-BB48-4F9B-ABC9-667D7545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719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8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Tea-garden trials are missing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98FD2-8FE2-427E-B3DD-E981E89A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101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8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Most evidence comes from adjacent settings, not Sylhet plantations.</a:t>
            </a:r>
          </a:p>
        </p:txBody>
      </p:sp>
    </p:spTree>
    <p:extLst>
      <p:ext uri="{BB962C8B-B14F-4D97-AF65-F5344CB8AC3E}">
        <p14:creationId xmlns:p14="http://schemas.microsoft.com/office/powerpoint/2010/main" val="1548910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9A30E-7246-421F-8ABD-1DFBF9F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mHealth shows measurable gains, especially when reminders are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9562A-BFE5-45A6-8189-C528286A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F135A-5AC6-4307-92A4-91912BB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caaaad42d14a5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10BFB-0B54-4491-8590-3539C4FF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859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C9E92-262D-47A9-A817-95502C43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859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1D548-0EBE-47DF-B323-1EB4EF8B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9547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to read 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11A75-B4ED-4855-B0F1-B3BA9B1E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14575"/>
            <a:ext cx="3600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figures are not one pooled metric; they summarize different evidence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D1B06-5323-49F1-88A0-8157433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86075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5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ANC: 20-40% rise; vaccination OR: 2.15; Bangladesh uptake: 3.6x; CHW coverage: above 90%.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3E5D1-0DF5-4A65-9C2E-8FF891D6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10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259A8-AD5B-4A7B-900F-BDAB8C29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10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58695-09B6-4303-ACCC-64CEC7B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01955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34048-9078-4A43-AFCF-C437AEBD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438650"/>
            <a:ext cx="3600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93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direction of evidence is consistent: reminders and CHW follow-up can improve attendance, vaccination, and knowledge.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FC224-B2AE-476F-8215-C0B1A68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1490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13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The review avoids formal meta-analysis because study designs are heterogeneous.</a:t>
            </a:r>
          </a:p>
        </p:txBody>
      </p:sp>
    </p:spTree>
    <p:extLst>
      <p:ext uri="{BB962C8B-B14F-4D97-AF65-F5344CB8AC3E}">
        <p14:creationId xmlns:p14="http://schemas.microsoft.com/office/powerpoint/2010/main" val="1812135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B200F-EB01-4CFE-9510-EF664765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CHWs turn digital content into local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748DD-2C30-4EF7-9F11-F3F75FD4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43385-BD05-4FC0-A78F-80202511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DELIVERY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5DA83-1986-4EF5-9B81-3073617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EC8E0-272E-4F1D-9971-ED3BF9B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92EE3-4A3B-488E-882B-EDA2B04B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Language 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BC483-C284-4673-A051-0773C919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2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trusted worker can explain formal health advice in everyday speech.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A2B66-0F8C-46E8-A1A4-87A1B44C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Important where Sylheti, Chattisheuli, and tribal languages shape daily communication.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CBFDD-323C-413D-8CFD-A20C56B2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3FE5D-B3AB-4589-89E7-6E0604EC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C6FCC-2F35-45EE-BABD-886215B9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05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Care tracker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0E849-E0A3-4689-B7A1-A0C32340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24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Digital checklists help CHWs track visits, risks, referrals, and overdue mothers.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2C43F-047A-4675-A1E9-429ADA3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1952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Bangladesh tablet-supported CHW work sustained visit coverage above 90%.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4A50F-B73C-4A36-9CDD-545184C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6628E-6F80-4C53-9A12-8244ACC5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67673-DAE7-4706-9FD9-0FC0C29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 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561D6-A759-41AD-93D9-612067F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2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Mothers may act more readily when guidance comes through a known person.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CA099-7F7F-47DD-BFB1-BEF568BF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952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The review repeatedly finds CHW-mediated delivery stronger than direct-to-user messaging.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A12F4-A3A6-46E1-A758-F4EFEB5F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215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Implementation caution: extra app tasks need supervision, compensation, and recognition, otherwise CHW motivation may fall.</a:t>
            </a:r>
          </a:p>
        </p:txBody>
      </p:sp>
    </p:spTree>
    <p:extLst>
      <p:ext uri="{BB962C8B-B14F-4D97-AF65-F5344CB8AC3E}">
        <p14:creationId xmlns:p14="http://schemas.microsoft.com/office/powerpoint/2010/main" val="20557584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7CCF5-EF7A-46DF-9B3C-9D659CB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Low-literacy HCI is not decoration; it determines usability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0A5EF-42FA-45D2-B7A5-DB70B68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000C0-991D-462F-B0BC-6F5E0575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INTERFACE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D5977-A429-4258-8402-E8A15509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1E2E1-D503-479D-B9E9-73F6C065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67E6F-D12A-4605-B3D6-E4C004CF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76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Pictorial checklists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5EC97-5E9C-48D8-ACA3-15C9122A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28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Use tappable icons for danger signs, ANC tasks, nutrition, and vaccination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D9D75-E8E6-4B96-9E0D-323E9B84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A8465-6CEB-45EE-8796-AF5CF54E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17DF1-CDBC-469F-9D5D-DA3CBB21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Voice narration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B9D56-7F3A-45F1-9E05-094AB1C6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9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Narrate each screen in the language mothers actually use at home.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9AC1C-4A0E-4144-ADFB-8B591EFF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E5E5E-75D8-4E3C-82E7-44382C98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90FA6-3AD2-4F69-AB94-526609FD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385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 navigation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2C1DC-526C-4C38-9482-D0A1494F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909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Keep paths short; every additional tap adds a chance for confusion.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43AFB-88A7-48FB-BC20-13F912AD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7CA97-1573-4A8E-A034-67A299C3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3BA5D-99CE-42D3-9D38-80D00A02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Offline-first operation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8AACE-10E2-49BF-95C9-82B2129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71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Pre-load guidance so the system works when signal disappears.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271F9-BEDB-41DB-9411-2AAABA7F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1CD6C-C426-4B69-8C3E-CBC0769E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7F940-09FB-43ED-BBED-40471B17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Privacy-aware reminders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9A9D8-0FFB-42E3-8AD2-03041DCA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530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Design around shared household phones and message visibility.</a:t>
            </a:r>
          </a:p>
        </p:txBody>
      </p:sp>
    </p:spTree>
    <p:extLst>
      <p:ext uri="{BB962C8B-B14F-4D97-AF65-F5344CB8AC3E}">
        <p14:creationId xmlns:p14="http://schemas.microsoft.com/office/powerpoint/2010/main" val="936923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B4688-6C13-446F-9AD6-3DBD7154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useful tool would combine mother guidance and CHW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06F76-E7BE-4553-884D-58721843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F1775-415C-476C-A2D9-DF762737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FEATURE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6E433-3080-4413-A4E2-CE1537F6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908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9ACA7-7DF0-4179-84F0-D25BCFCC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6143A-362C-481A-82F9-B7860B5F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37E4C-E995-4D47-90F4-E8F4F2B8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57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Mother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B63A0-E397-4C44-B133-9D5EFE2D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43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audio + pictorial 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86176-83E4-4FAB-BA3C-F8A9FCF5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81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5A061-3A17-4F32-9DAE-30CDB26E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81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84ED7-1DEE-4B51-8F53-BF785CFF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CHW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34F45-9999-4650-B3C9-5780A8AC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home visit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D29FA-5FAA-4F10-922F-2A245971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81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9C6F4-A894-418E-A2FA-4AB224E3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81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76FD2-F2B0-4628-A5F1-D2068E26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57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Care schedule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39E12-0839-4212-A875-7B254632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143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ANC, PNC, vaccines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B3FF8-4F3D-4610-B384-E1B3C6D1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81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FDCC1-43AC-4671-9FBF-79A1745A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81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0A01E-143F-44BB-8EAC-4A23429B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Offline sync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25989-3DF9-4436-88E1-8F2768F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store now, sync later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CA57F-7B0D-4925-B769-5FC953A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81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25A7D-821C-4B31-AF1E-767A5522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81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5C"/>
          </a:solidFill>
          <a:ln xmlns:a="http://schemas.openxmlformats.org/drawingml/2006/main" w="9525">
            <a:solidFill>
              <a:srgbClr val="D85C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472DBC-8FBD-4537-8DE0-BBC8FFD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57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7EF5B-AF35-404F-8B90-E3398B62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143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overdue cases + referrals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36D78-67A6-456D-9C2C-D49068E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features: pictorial checklists, pre-loaded Bangla/Sylheti/Chattisheuli audio, vaccination tracker, ANC/PNC schedules, danger-sign alerts, CHW dashboard.</a:t>
            </a:r>
          </a:p>
        </p:txBody>
      </p:sp>
    </p:spTree>
    <p:extLst>
      <p:ext uri="{BB962C8B-B14F-4D97-AF65-F5344CB8AC3E}">
        <p14:creationId xmlns:p14="http://schemas.microsoft.com/office/powerpoint/2010/main" val="245759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3A250-B296-4B2B-B178-5DA5315B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biggest evidence gap is inside the tea gardens themselves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4413F-E517-4515-8B22-A6985135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008C9-6119-4ECD-A8CF-05E100D1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CRITICAL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42CD7-34DC-4123-9DDB-57315356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peer-reviewed study in the review piloted this exact CHW-plus-mHealth model inside a Sylhet tea garden.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78B1D-3E31-44F2-9F5D-33F54171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8A4BB-AD64-4B30-A2E4-6E1ACB25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26755-4C42-4E32-8186-C9D11ED2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Adjacent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7DEE2-A3BB-4C3A-841E-8085166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052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7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comes from similar LMIC contexts, not plantation trials.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B175A-8E76-414C-9591-00FA4539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862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2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Useful, but not identical to plantation power structures.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B310D-68EA-48FE-BFCA-59206958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D2EAE-4878-4BCB-B554-1A382C8D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87978-4C3C-4ACE-B5D8-46A6F504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861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Language specificity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6AB5A-DD70-4718-9234-FE82AE5D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052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Chattisheuli and tribal-language interfaces remain untested.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1D4B0-AB19-4402-8965-D7A2C411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862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Formal Bangla audio may still miss everyday comprehension.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7EB4B-2FD0-493C-B52A-821AECF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7662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6E7DB-A219-44E3-9D44-2E29DFF8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7662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5C"/>
          </a:solidFill>
          <a:ln xmlns:a="http://schemas.openxmlformats.org/drawingml/2006/main" w="9525">
            <a:solidFill>
              <a:srgbClr val="D85C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D867C-568A-479E-B0CA-9D4D79E3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861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Institutional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6D22E-3E80-478A-9570-A855C374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052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5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Health posts are often employer-linked and under-resourced.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DB13A-3504-44F2-B5CB-8867A8F1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862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3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Care-seeking depends on labour schedules and mobility constraints.</a:t>
            </a:r>
          </a:p>
        </p:txBody>
      </p:sp>
    </p:spTree>
    <p:extLst>
      <p:ext uri="{BB962C8B-B14F-4D97-AF65-F5344CB8AC3E}">
        <p14:creationId xmlns:p14="http://schemas.microsoft.com/office/powerpoint/2010/main" val="344481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F2BAF-5CC3-46E0-827B-9550B5EE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review is useful, but its limits must shape the next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6BA1D-F158-4835-A932-16E1BBB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6CD66-F1D5-40FA-9D22-3C9FD9A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6338C-873D-4ACE-9D14-79843D1C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9B82D-A5A3-4603-BA79-7DD5DA5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3104D-8796-4E8C-A9E9-5A8CBB8A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Searches were restricted to English-language publications and major databases.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A2EAB-FE2D-4516-8454-12B0AA14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A6ACD-787D-41B2-B819-85A84B49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337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field changes quickly; the review search ended in January 2025.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CCA9E-8164-497B-9FF2-F1360DCC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F079A-D81B-48CF-82D7-FE33BA47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00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Study designs varied too much for a meaningful formal meta-analysis.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E4AB9-F324-40FF-92B6-8963BFB6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Design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395CC-0B20-47AA-90C0-8DF33A0C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B1F42-C18E-4F91-A09F-3E3273CF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669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Tea-garden-specific mHealth evidence is nearly absent.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253A6-E5DE-4440-A8CF-E40DE7A0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ACA15-2C67-4D67-9127-290F7935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9337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 ownership, shared-phone practices, and network reliability need mapping.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02A14-6945-4C93-BE84-CFB86A8B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E3F91-C121-4FA1-8A6D-7D8FDE05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00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Chattisheuli audio and culturally grounded visuals need participatory validation.</a:t>
            </a:r>
          </a:p>
        </p:txBody>
      </p:sp>
    </p:spTree>
    <p:extLst>
      <p:ext uri="{BB962C8B-B14F-4D97-AF65-F5344CB8AC3E}">
        <p14:creationId xmlns:p14="http://schemas.microsoft.com/office/powerpoint/2010/main" val="4968903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2991B-FF29-4E1F-9000-2BC1A2B3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Cautious yes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79DFE-32AC-4C17-BBEE-DF421B1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62125"/>
            <a:ext cx="981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077"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evidence supports co-design and field testing, not immediate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EB65F-CDB1-42E7-BCE1-CECBC287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22DC7-8F83-4D64-8750-0FA8E203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Co-design with mothers and CHWs inside tea gardens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54FA4-8C77-4F8C-AD04-F3FBF550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4F5CD-6812-4B0D-88CC-0C6C3BEF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devices, language, phone sharing, and network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43D83-3A4F-40A5-8D38-9CC322AC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04BEB-16B4-49EA-8F2E-88F47021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Prototype pictorial and audio-first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98344-C3AB-4A5A-AC6A-64F3A824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38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094DD-4C66-43FF-88E8-2088B0D7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387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a cluster-randomized or stepped-wedge field trial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8FEC3-819E-446B-BF5C-F2D1EA29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48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7F876-9A02-45E9-8376-6289D147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48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 sustainability before donor or pilot support ends</a:t>
            </a:r>
          </a:p>
        </p:txBody>
      </p:sp>
    </p:spTree>
    <p:extLst>
      <p:ext uri="{BB962C8B-B14F-4D97-AF65-F5344CB8AC3E}">
        <p14:creationId xmlns:p14="http://schemas.microsoft.com/office/powerpoint/2010/main" val="331460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2026-08-09T08:18:53.2400000Z</dcterms:created>
  <dcterms:modified xsi:type="dcterms:W3CDTF">2026-08-09T08:18:53.2410000Z</dcterms:modified>
</coreProperties>
</file>