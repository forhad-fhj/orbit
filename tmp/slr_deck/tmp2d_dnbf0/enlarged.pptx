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91e9480fc7c4c8d" Type="http://schemas.openxmlformats.org/officeDocument/2006/relationships/extended-properties" Target="docProps/app.xml"/><Relationship Id="Ra58c6acf4cfc4062" Type="http://schemas.openxmlformats.org/package/2006/relationships/metadata/core-properties" Target="docProps/core.xml"/><Relationship Id="Ra59ab2c780324ac7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3b6fcb00fc4aea"/>
  </p:sldMasterIdLst>
  <p:notesMasterIdLst>
    <p:notesMasterId xmlns:r="http://schemas.openxmlformats.org/officeDocument/2006/relationships" r:id="R1639811e7fed47ac"/>
  </p:notesMasterIdLst>
  <p:sldIdLst>
    <p:sldId xmlns:r="http://schemas.openxmlformats.org/officeDocument/2006/relationships" id="256" r:id="R053880f9146d400f"/>
    <p:sldId xmlns:r="http://schemas.openxmlformats.org/officeDocument/2006/relationships" id="257" r:id="R2db7f247e5d043db"/>
    <p:sldId xmlns:r="http://schemas.openxmlformats.org/officeDocument/2006/relationships" id="258" r:id="Rcc216f0caaf64bee"/>
    <p:sldId xmlns:r="http://schemas.openxmlformats.org/officeDocument/2006/relationships" id="259" r:id="R019b6ffa2f054f8a"/>
    <p:sldId xmlns:r="http://schemas.openxmlformats.org/officeDocument/2006/relationships" id="260" r:id="R705480b0a2164560"/>
    <p:sldId xmlns:r="http://schemas.openxmlformats.org/officeDocument/2006/relationships" id="261" r:id="R9d4ba70b377e443c"/>
    <p:sldId xmlns:r="http://schemas.openxmlformats.org/officeDocument/2006/relationships" id="262" r:id="Rd02be3873c7d44d3"/>
    <p:sldId xmlns:r="http://schemas.openxmlformats.org/officeDocument/2006/relationships" id="263" r:id="Rd217d77e91fd49a5"/>
    <p:sldId xmlns:r="http://schemas.openxmlformats.org/officeDocument/2006/relationships" id="264" r:id="R879ca28ebbb64a63"/>
    <p:sldId xmlns:r="http://schemas.openxmlformats.org/officeDocument/2006/relationships" id="265" r:id="R76f89895ac284cad"/>
    <p:sldId xmlns:r="http://schemas.openxmlformats.org/officeDocument/2006/relationships" id="266" r:id="R22ead14483bf4c15"/>
    <p:sldId xmlns:r="http://schemas.openxmlformats.org/officeDocument/2006/relationships" id="267" r:id="Rdb6ed2f400094e06"/>
    <p:sldId xmlns:r="http://schemas.openxmlformats.org/officeDocument/2006/relationships" id="268" r:id="Rb21bc80d6aaa46ce"/>
    <p:sldId xmlns:r="http://schemas.openxmlformats.org/officeDocument/2006/relationships" id="269" r:id="R7a666ef61e01447a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9b6ffa2f054f8a" Type="http://schemas.openxmlformats.org/officeDocument/2006/relationships/slide" Target="slides/slide4.xml"/><Relationship Id="R053880f9146d400f" Type="http://schemas.openxmlformats.org/officeDocument/2006/relationships/slide" Target="slides/slide1.xml"/><Relationship Id="R1639811e7fed47ac" Type="http://schemas.openxmlformats.org/officeDocument/2006/relationships/notesMaster" Target="notesMasters/notesMaster1.xml"/><Relationship Id="R22ead14483bf4c15" Type="http://schemas.openxmlformats.org/officeDocument/2006/relationships/slide" Target="slides/slide11.xml"/><Relationship Id="R2db7f247e5d043db" Type="http://schemas.openxmlformats.org/officeDocument/2006/relationships/slide" Target="slides/slide2.xml"/><Relationship Id="R4f732ff7f1d44090" Type="http://schemas.openxmlformats.org/officeDocument/2006/relationships/theme" Target="theme/theme1.xml"/><Relationship Id="R705480b0a2164560" Type="http://schemas.openxmlformats.org/officeDocument/2006/relationships/slide" Target="slides/slide5.xml"/><Relationship Id="R72a1402684a44de7" Type="http://schemas.openxmlformats.org/officeDocument/2006/relationships/presProps" Target="presProps.xml"/><Relationship Id="R76f89895ac284cad" Type="http://schemas.openxmlformats.org/officeDocument/2006/relationships/slide" Target="slides/slide10.xml"/><Relationship Id="R7a666ef61e01447a" Type="http://schemas.openxmlformats.org/officeDocument/2006/relationships/slide" Target="slides/slide14.xml"/><Relationship Id="R879ca28ebbb64a63" Type="http://schemas.openxmlformats.org/officeDocument/2006/relationships/slide" Target="slides/slide9.xml"/><Relationship Id="R94561307ffda4d59" Type="http://schemas.openxmlformats.org/officeDocument/2006/relationships/tableStyles" Target="tableStyles.xml"/><Relationship Id="R9d4ba70b377e443c" Type="http://schemas.openxmlformats.org/officeDocument/2006/relationships/slide" Target="slides/slide6.xml"/><Relationship Id="Rb21bc80d6aaa46ce" Type="http://schemas.openxmlformats.org/officeDocument/2006/relationships/slide" Target="slides/slide13.xml"/><Relationship Id="Rcc216f0caaf64bee" Type="http://schemas.openxmlformats.org/officeDocument/2006/relationships/slide" Target="slides/slide3.xml"/><Relationship Id="Rcf3b6fcb00fc4aea" Type="http://schemas.openxmlformats.org/officeDocument/2006/relationships/slideMaster" Target="slideMasters/slideMaster1.xml"/><Relationship Id="Rd02be3873c7d44d3" Type="http://schemas.openxmlformats.org/officeDocument/2006/relationships/slide" Target="slides/slide7.xml"/><Relationship Id="Rd217d77e91fd49a5" Type="http://schemas.openxmlformats.org/officeDocument/2006/relationships/slide" Target="slides/slide8.xml"/><Relationship Id="Rdb6ed2f400094e06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2a1ecfeee4de4ed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431f76509704cd2" Type="http://schemas.openxmlformats.org/officeDocument/2006/relationships/slide" Target="../slides/slide1.xml"/><Relationship Id="R8da3c185b35a4c7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d5ea8e51f1649f0" Type="http://schemas.openxmlformats.org/officeDocument/2006/relationships/notesMaster" Target="../notesMasters/notesMaster1.xml"/><Relationship Id="R415e0c5ed15b402e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6350c21c7c2e4638" Type="http://schemas.openxmlformats.org/officeDocument/2006/relationships/notesMaster" Target="../notesMasters/notesMaster1.xml"/><Relationship Id="Raef001a6594a48b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f94c7a7e8a54023" Type="http://schemas.openxmlformats.org/officeDocument/2006/relationships/notesMaster" Target="../notesMasters/notesMaster1.xml"/><Relationship Id="Rdce3c085c4ce427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80640cf996cf4559" Type="http://schemas.openxmlformats.org/officeDocument/2006/relationships/notesMaster" Target="../notesMasters/notesMaster1.xml"/><Relationship Id="Ra5cead67a390454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61b1d37d12b44d9" Type="http://schemas.openxmlformats.org/officeDocument/2006/relationships/notesMaster" Target="../notesMasters/notesMaster1.xml"/><Relationship Id="Rcf0a9bdb421f464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4e54db9031e48d9" Type="http://schemas.openxmlformats.org/officeDocument/2006/relationships/notesMaster" Target="../notesMasters/notesMaster1.xml"/><Relationship Id="Red50b10185584a3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a78f40ce276f4757" Type="http://schemas.openxmlformats.org/officeDocument/2006/relationships/notesMaster" Target="../notesMasters/notesMaster1.xml"/><Relationship Id="Rd0b69f5a5f164c9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3c8e4ef77ef405f" Type="http://schemas.openxmlformats.org/officeDocument/2006/relationships/notesMaster" Target="../notesMasters/notesMaster1.xml"/><Relationship Id="R2df43adacee94e2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135db6c24784deb" Type="http://schemas.openxmlformats.org/officeDocument/2006/relationships/notesMaster" Target="../notesMasters/notesMaster1.xml"/><Relationship Id="Rcf1f52bd402b4b0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62653a51d5e14435" Type="http://schemas.openxmlformats.org/officeDocument/2006/relationships/slide" Target="../slides/slide11.xml"/><Relationship Id="Rfae32f0604324085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02ac9df17e344ff5" Type="http://schemas.openxmlformats.org/officeDocument/2006/relationships/notesMaster" Target="../notesMasters/notesMaster1.xml"/><Relationship Id="R3eafa098c2a54354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8fe822a01c7f4281" Type="http://schemas.openxmlformats.org/officeDocument/2006/relationships/notesMaster" Target="../notesMasters/notesMaster1.xml"/><Relationship Id="R9a9f12889ea140c8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4f7ee4e7a9984b05" Type="http://schemas.openxmlformats.org/officeDocument/2006/relationships/notesMaster" Target="../notesMasters/notesMaster1.xml"/><Relationship Id="R8569a696ad7f4a03" Type="http://schemas.openxmlformats.org/officeDocument/2006/relationships/slide" Target="../slides/slide1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the review question: whether a CHW-assisted mHealth app can realistically improve maternal and child health awareness among tea-garden families in Sylhet. Position the deck as evidence synthesis plus design implications.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 1: title and abstract.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the paper focuses on tea gardens rather than Bangladesh as a whole. National averages hide a specific mix of poverty, language, low literacy, hard-to-reach clinics, and employer-controlled plantation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1-3: introduction and tea-garden health context.</a:t>
            </a:r>
          </a:p>
          <a:p xmlns:a="http://schemas.openxmlformats.org/drawingml/2006/main">
            <a:r>
              <a:t>SLR.pdf, page 2: mobile subscription context and access barriers.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deepens the context from the previous one. Emphasize that the intervention has to work across health, social, language, and infrastructure barriers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2-4: tea-garden health burdens, low literacy, device sharing, and connectivity constraints.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research questions to show that the review is not only medical. It connects maternal health outcomes, CHW workflow, and human-computer interaction.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 5: questions guiding the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search was deliberately interdisciplinary. A maternal health app for tea gardens cannot be assessed only through clinical papers; usability and CHW delivery literature matter too.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5-7: search strings, database list, and Boolean search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concise: the point is credibility and scope. Mention that the final 45 papers were read in full and thematically analyzed.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6-7: source distribution and paper-pool narrowing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bridge into the evidence slides. The five themes are the heart of the review and give the presentation its professional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7-9: five thematic clusters from the analysis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numbers carefully. Make it clear the chart is a presentation aid, not a formal meta-analysis. The review supports cautious confidence, not overclaiming.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 4: ANC attendance, vaccination, CHW effectiveness, and health knowledge evidence.</a:t>
            </a:r>
          </a:p>
          <a:p xmlns:a="http://schemas.openxmlformats.org/drawingml/2006/main">
            <a:r>
              <a:t>SLR.pdf, page 11: limitation about heterogeneous study designs and no formal meta-analysis.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sound human, not technical. The CHW is the connective tissue: she interprets messages, follows up, and helps families decide when to seek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7-8: CHWs as linchpin, Bangladesh CHW coverage evidence, and motivation concern.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most design-oriented slide. The review argues that a normal text-heavy app would fail many intended users, so HCI choices are core health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3 and 8: low-literacy HCI evidence, pictorial interfaces, voice narration, flat menus, and local language need.</a:t>
            </a:r>
          </a:p>
          <a:p xmlns:a="http://schemas.openxmlformats.org/drawingml/2006/main">
            <a:r>
              <a:t>SLR.pdf, page 12: shared-phone and network-reliability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this is a literature-grounded architecture, not a validated product. It shows what the evidence points toward for prototyping.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9-10: proposed feature map and feature-rationale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prevents overclaiming. The review's strongest scholarly contribution may be identifying the absence of direct tea-garden trials.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8-9: absence of peer-reviewed mHealth trials inside Bangladeshi tea gardens and limits of adjacent evidence.</a:t>
            </a:r>
          </a:p>
          <a:p xmlns:a="http://schemas.openxmlformats.org/drawingml/2006/main">
            <a:r>
              <a:t>SLR.pdf, page 13: distinctive tea-garden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professional presentation should not hide limitations. Explain that these constraints do not invalidate the review; they clarify what the next research step must test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9-12: review limitations, search cutoff, heterogeneity, and need to map the technology landscape.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paper's balanced answer: CHW-backed mHealth is promising because reminders, CHW support, pictorial design, voice, and offline function all have support. But deployment should wait for participatory design and a proper trial in the actual tea-garden setting.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SLR.pdf, pages 11-13: research directions and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b496b9c99d9435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f48f4f50c2b4c41" Type="http://schemas.openxmlformats.org/officeDocument/2006/relationships/slideLayout" Target="../slideLayouts/slideLayout1.xml"/><Relationship Id="Rc88a211762204dbc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8f4f50c2b4c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8589a74af04700" Type="http://schemas.openxmlformats.org/officeDocument/2006/relationships/slideLayout" Target="../slideLayouts/slideLayout1.xml"/><Relationship Id="R80f4df812c5e42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dd256c2569f143a9" Type="http://schemas.openxmlformats.org/officeDocument/2006/relationships/notesSlide" Target="../notesSlides/notesSlide2.xml"/><Relationship Id="Red4006de7a5d4b4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36ae2bb5e7a4073" Type="http://schemas.openxmlformats.org/officeDocument/2006/relationships/notesSlide" Target="../notesSlides/notesSlide3.xml"/><Relationship Id="R7c84d4fcc87948b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81a3bc1675604297" Type="http://schemas.openxmlformats.org/officeDocument/2006/relationships/slideLayout" Target="../slideLayouts/slideLayout1.xml"/><Relationship Id="Rb666fb6d39344b1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c90e2caf39049dc" Type="http://schemas.openxmlformats.org/officeDocument/2006/relationships/notesSlide" Target="../notesSlides/notesSlide5.xml"/><Relationship Id="Rb5ab9bcec0544b89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ace14db9c934770" Type="http://schemas.openxmlformats.org/officeDocument/2006/relationships/notesSlide" Target="../notesSlides/notesSlide6.xml"/><Relationship Id="R8734a22acf3d4405" Type="http://schemas.openxmlformats.org/officeDocument/2006/relationships/slideLayout" Target="../slideLayouts/slideLayout1.xml"/><Relationship Id="Re9b823cbf7b74d3b" Type="http://schemas.openxmlformats.org/officeDocument/2006/relationships/chart" Target="charts/chart1.xml"/></Relationships>
</file>

<file path=ppt/slides/_rels/slide7.xml.rels><?xml version='1.0' encoding='UTF-8' standalone='yes'?>
<Relationships xmlns="http://schemas.openxmlformats.org/package/2006/relationships"><Relationship Id="R36b176fac99340f0" Type="http://schemas.openxmlformats.org/officeDocument/2006/relationships/notesSlide" Target="../notesSlides/notesSlide7.xml"/><Relationship Id="Rcb2e6c1cd37142b5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49d3910258464b5e" Type="http://schemas.openxmlformats.org/officeDocument/2006/relationships/slideLayout" Target="../slideLayouts/slideLayout1.xml"/><Relationship Id="R4aa9bae9fac34dea" Type="http://schemas.openxmlformats.org/officeDocument/2006/relationships/chart" Target="charts/chart2.xml"/><Relationship Id="Rcc1bda5f705441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afe73ba5f3ea4270" Type="http://schemas.openxmlformats.org/officeDocument/2006/relationships/slideLayout" Target="../slideLayouts/slideLayout1.xml"/><Relationship Id="Rb67458e29bc44e5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5979445c3364034" Type="http://schemas.openxmlformats.org/officeDocument/2006/relationships/notesSlide" Target="../notesSlides/notesSlide10.xml"/><Relationship Id="Re159337ada034146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0e1d24608a034d6d" Type="http://schemas.openxmlformats.org/officeDocument/2006/relationships/slideLayout" Target="../slideLayouts/slideLayout1.xml"/><Relationship Id="Rf7967ba77df0470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0fe6ddc3b4104554" Type="http://schemas.openxmlformats.org/officeDocument/2006/relationships/slideLayout" Target="../slideLayouts/slideLayout1.xml"/><Relationship Id="R7c199f6a040d4dbd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12bc2f5b736413e" Type="http://schemas.openxmlformats.org/officeDocument/2006/relationships/notesSlide" Target="../notesSlides/notesSlide13.xml"/><Relationship Id="Rdb1a8ab56b964a8d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930d2458fcad43a2" Type="http://schemas.openxmlformats.org/officeDocument/2006/relationships/slideLayout" Target="../slideLayouts/slideLayout1.xml"/><Relationship Id="R9e967ce18fef4d83" Type="http://schemas.openxmlformats.org/officeDocument/2006/relationships/notesSlide" Target="../notesSlides/notesSlide14.xml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Papers left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Initial</c:v>
              </c:pt>
              <c:pt idx="1">
                <c:v>Title screen</c:v>
              </c:pt>
              <c:pt idx="2">
                <c:v>Abstract review</c:v>
              </c:pt>
              <c:pt idx="3">
                <c:v>Full text</c:v>
              </c:pt>
            </c:strLit>
          </c:cat>
          <c:val>
            <c:numLit>
              <c:formatCode>General</c:formatCode>
              <c:ptCount val="4"/>
              <c:pt idx="0">
                <c:v>158</c:v>
              </c:pt>
              <c:pt idx="1">
                <c:v>82</c:v>
              </c:pt>
              <c:pt idx="2">
                <c:v>45</c:v>
              </c:pt>
              <c:pt idx="3">
                <c:v>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270"/>
                </a:solidFill>
              </a:defRPr>
            </a:pPr>
          </a:p>
        </c:txPr>
        <c:crossAx val="48650112"/>
        <c:crossBetween val="between"/>
        <c:majorUnit val="4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Evidence signal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ANC attendance</c:v>
              </c:pt>
              <c:pt idx="1">
                <c:v>Vaccination odds</c:v>
              </c:pt>
              <c:pt idx="2">
                <c:v>BD uptake</c:v>
              </c:pt>
              <c:pt idx="3">
                <c:v>CHW coverage</c:v>
              </c:pt>
            </c:strLit>
          </c:cat>
          <c:val>
            <c:numLit>
              <c:formatCode>General</c:formatCode>
              <c:ptCount val="4"/>
              <c:pt idx="0">
                <c:v>30</c:v>
              </c:pt>
              <c:pt idx="1">
                <c:v>2.15</c:v>
              </c:pt>
              <c:pt idx="2">
                <c:v>3.6</c:v>
              </c:pt>
              <c:pt idx="3">
                <c:v>90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2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269FE-C2BA-4873-8BFC-9A244D61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162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SYSTEMATIC 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0D807-30CD-4B2E-9E8C-37D98678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752600"/>
            <a:ext cx="1140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DAC31-CA04-4EDE-AFAD-389F133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0510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CHW-Assisted mHealth for Sylhet Tea-Garden Families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8AA78-AF06-404A-9974-83DEE2E7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4483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Strengthening maternal and child health awareness through evidence-based, low-literacy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EA43F-1FB0-4224-9C7A-F7598DB7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5151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Md. Forhad Hasan Jewel and Muhammad Milon</a:t>
            </a:r>
          </a:p>
        </p:txBody>
      </p:sp>
    </p:spTree>
    <p:extLst>
      <p:ext uri="{BB962C8B-B14F-4D97-AF65-F5344CB8AC3E}">
        <p14:creationId xmlns:p14="http://schemas.microsoft.com/office/powerpoint/2010/main" val="1415720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CEF86-6A19-417A-8932-C6A13832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085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Sylhet tea gardens need a solution designed for their reality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D93F7-6C68-4E91-9FA8-4331416E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06924-02A4-4F48-B969-7A412128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68AA5-B41F-4649-A9C8-AB3AB177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2343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D6C79-7A0B-4FAE-ADBD-F19285FC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766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051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360k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65E96-56EB-4886-B730-1C03225B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86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workers and family members on Sylhet tea plantations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D6D36-681C-491A-A003-E1209C7C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48000"/>
            <a:ext cx="2343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E1722-C417-41D1-BE62-066E0089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766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051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C8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2C8B68"/>
                </a:solidFill>
                <a:latin typeface="Helvetica Neue"/>
                <a:ea typeface="Helvetica Neue"/>
                <a:cs typeface="Helvetica Neue"/>
              </a:rPr>
              <a:t>2/3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8784C-C69A-481B-BAFB-3D76C297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86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women and girls form a major share of the workforce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DDCE3-D10B-4697-A76E-4E06479F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2343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96EB6-2D80-45E1-B7B3-94E9BBF8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766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051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D8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D85C5C"/>
                </a:solidFill>
                <a:latin typeface="Helvetica Neue"/>
                <a:ea typeface="Helvetica Neue"/>
                <a:cs typeface="Helvetica Neue"/>
              </a:rPr>
              <a:t>BDT 187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29A6A-2833-4732-80FE-BFFF56E3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daily wage leaves little margin for maternal nutrition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FE1E5-F0C7-4E70-9066-FEB81AB6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48000"/>
            <a:ext cx="2343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40CE6-589C-43EE-ABAB-94E662A4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766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051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180m+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7A33F-5DFC-4656-A087-B19459DA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886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mobile subscriptions make phone-based support plausible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7BBA05-81D9-4E23-A6F1-2758460F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05500"/>
            <a:ext cx="10144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333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design challenge is not only sending messages. It is making guidance understandable, trusted, reachable, and usable under plantation conditions.</a:t>
            </a:r>
          </a:p>
        </p:txBody>
      </p:sp>
    </p:spTree>
    <p:extLst>
      <p:ext uri="{BB962C8B-B14F-4D97-AF65-F5344CB8AC3E}">
        <p14:creationId xmlns:p14="http://schemas.microsoft.com/office/powerpoint/2010/main" val="627894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8F0F1-2A48-4F38-AD50-A8F98748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085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health burden is created by overlapping barriers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EB1FE-C845-4217-A835-AEFAD546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E1FF9-2AC2-45DB-941D-E9674621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5E138-CB63-44F5-AFF9-80B37A04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Health and service barriers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B2004-7821-49B4-A07C-3E64C6C2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A1862-D7E9-46EE-86B4-EC53E8DF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0289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Rare antenatal and postnatal check-ups delay early risk detection.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C7A61-F35A-4739-911F-AFE42C1B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7B630-6B14-41D4-9661-08C15794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69570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Vaccination schedules slip when dates, travel, and clinic access do not line 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71393-12AE-47E8-910B-566ABE97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48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91057-28D7-4AAD-8760-88E0D036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624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Pregnancy diet often stays unchanged despite anemia and undernutrition risks.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D13C2-8409-462C-B166-66A97E70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Social and technical barriers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28F09-E780-495E-8728-A69D2FDD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solidFill>
              <a:srgbClr val="2C8B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07506-7092-4312-8B82-9F57B75A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289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Functional literacy is limited, so text-heavy interfaces exclude many users.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BE401-1548-445E-95D8-943B74F4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solidFill>
              <a:srgbClr val="2C8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86E7E-6594-4B9E-BAF8-0B379634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69570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Families may share one phone, often controlled by someone other than the mother.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79466-0EE6-4F13-A331-5C868569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48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solidFill>
              <a:srgbClr val="2C8B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DC392-E0CC-4FFD-B9E1-ABA6388E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3624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Rain, weak signal, and low-end devices make always-online apps fragile.</a:t>
            </a:r>
          </a:p>
        </p:txBody>
      </p:sp>
    </p:spTree>
    <p:extLst>
      <p:ext uri="{BB962C8B-B14F-4D97-AF65-F5344CB8AC3E}">
        <p14:creationId xmlns:p14="http://schemas.microsoft.com/office/powerpoint/2010/main" val="2087217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4" name="Rectangle 2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1F1CE-4CE7-40D5-ABD3-15013495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085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review asks what can be trusted before building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36721-8179-4170-8F3E-7A08144A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F7265-100A-4B9E-8DBE-90AF546C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RESEARCH FOCUS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DB65D-CE8E-452B-BE8A-AEE92017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57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667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The paper does not claim a finished product. It asks what existing evidence can support, and where field research is still required.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DECD4-E5F8-40B4-B6A4-322F31F7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B0C63-D897-433A-B5BE-BB5D0834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743DF-B2CA-43BC-B00D-73EC7679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338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23E9C-3752-4D1B-A688-A88A8FC0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5290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3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usability barriers and socio-technical friction points would mothers and CHWs face?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0D83D-AB80-47AF-8F40-FC0C8E0D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96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71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Focus: literacy, language, shared phones, infrastructure, trust.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530B9-BA61-44D0-BE83-28D3CC35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242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D69B5-FEBA-4F76-BA88-1C035008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24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9525">
            <a:solidFill>
              <a:srgbClr val="2C8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30893-51DD-446E-A1C4-B39743CC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338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5DBB1-7903-4475-91CF-6DFCF3D8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15290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783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could CHW-mediated audio and mobile guidance improve awareness and timely care-seeking?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C9CFA-C96C-4304-8B7B-B604D881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8196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56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Focus: health knowledge, retention, reminders, referral behavior.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B86B9-7A6C-4F58-9BB2-D7DF489C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242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0DF85-904E-4D3C-8020-568E9E5E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24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5C"/>
          </a:solidFill>
          <a:ln xmlns:a="http://schemas.openxmlformats.org/drawingml/2006/main" w="9525">
            <a:solidFill>
              <a:srgbClr val="D85C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1BF6B-4D73-4379-85AE-6F43DA37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338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2C16D-799D-46B3-9FC4-26C55CCB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5290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34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Which HCI features matter most for usability and sustained adoption?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55691-6B4F-42EF-AEAD-39857377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196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2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Focus: pictorial checklists, audio, offline use, CHW dashboards.</a:t>
            </a:r>
          </a:p>
        </p:txBody>
      </p:sp>
    </p:spTree>
    <p:extLst>
      <p:ext uri="{BB962C8B-B14F-4D97-AF65-F5344CB8AC3E}">
        <p14:creationId xmlns:p14="http://schemas.microsoft.com/office/powerpoint/2010/main" val="19009672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4" name="Rectangle 2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150F5-F3BC-439D-A675-000BF2BC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085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search combined health delivery, CHWs, HCI, and tea gardens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42FC4-55A8-4CFC-86D9-6741C566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ADA51-541F-4CB5-8B3E-119785DD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C37CC-A01E-441A-82F6-8A572B7F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0325"/>
            <a:ext cx="91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D1424-3315-4777-A3CF-86064E73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E31C1-B813-4234-A235-B79B8140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765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mHealth app + community health worker + maternal health + Bangladesh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FEDC0-E44A-4474-9EC7-F6350A68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91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B3267-41F7-45C9-9966-247A53AC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242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89865-1BB6-4713-BA8B-A101D330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14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mHealth + child health + low-resource + Bangladesh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1E47A-89A6-4680-BBE4-A3ABC583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76675"/>
            <a:ext cx="91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9A301-8E67-4A39-AA08-6F691C54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624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5744A-371E-411A-85D0-2DC55E9C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528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HCI + mHealth + low-literacy + maternal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631DD-F371-437E-BC79-E37C779A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91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66CB9-4597-4F45-AE31-FE103332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005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E4235-94F1-4363-92B3-B1D9248A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91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 garden workers + health + maternal + Bangladesh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0AF0E-790A-42F4-B353-B2C3A191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53025"/>
            <a:ext cx="91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E482A-BCD4-42E8-8C9F-562AF4E7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387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51D04-F8A6-4D12-9B4F-CDC2E50F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292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mobile health app + vaccination + reminders + rural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B38A3-CAF2-413D-98C5-CD1A1F35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124575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Databases: Google Scholar, IEEE Xplore, ACM Digital Library, PubMed/PMC, and ScienceDirect.</a:t>
            </a:r>
          </a:p>
        </p:txBody>
      </p:sp>
    </p:spTree>
    <p:extLst>
      <p:ext uri="{BB962C8B-B14F-4D97-AF65-F5344CB8AC3E}">
        <p14:creationId xmlns:p14="http://schemas.microsoft.com/office/powerpoint/2010/main" val="11443754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35BCD-E51D-4B70-9385-B1390F1D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085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final evidence base included 45 papers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F82B6-D4EA-462B-9E1B-5088A631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62D2A-9CBB-47DB-ABD8-2F867EC0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EVIDENCE BASE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1285875" y="2428875"/>
          <a:ext xmlns:a="http://schemas.openxmlformats.org/drawingml/2006/main" cx="50006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b823cbf7b74d3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2E785-2250-46E1-94DC-7BA3760D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57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Retrieved papers by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9B989-6637-4C58-A335-5D2A0222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28950"/>
            <a:ext cx="4095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9F27E-C395-4344-BE15-630C5162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05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Google Scholar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2D4DD-531F-4838-A2CA-3E43DE6E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105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725D2-9561-4793-ABBE-15033F97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52825"/>
            <a:ext cx="4095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C8F47-1BD9-4BA3-9F3F-A358E4E7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290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PubMed / PMC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CCDA3-0DF2-4D5E-804C-58971B3B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629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6709F-7DF7-4D49-BAFD-6A3F89C9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76700"/>
            <a:ext cx="4095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07C54-1230-4DB5-AB1E-F3E38B25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5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IEEE Xplore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05BF3-6C4E-4262-9C05-5B73566B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1529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4636B-E596-4965-9523-5CF36F8A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00575"/>
            <a:ext cx="4095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D8514-6FE4-41F2-98D3-315AFF50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767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ACM Digital Library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1656C-5B9B-46A9-8F67-E572ACF5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6767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27C08-8B56-4088-AB86-264AAB6A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24450"/>
            <a:ext cx="4095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6D43D-3F1E-4FCD-B7B0-09F4AADC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00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ScienceDirect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6EB99-40F5-4D1D-9543-D07AA34B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200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042581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0DEC5A-96B6-45BC-8F5E-57A6D76A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085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themes explain what the literature is really saying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153EF-02FB-4C16-9759-0104818B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F3EE3-6DC8-455B-A27C-7C7CBC50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CF9A8-1CCB-44CB-9D50-25EED676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3000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410C6-C68B-43C9-88BF-82A95566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241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5CD01-A0EB-47AF-9BAC-A6623FFD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432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CHWs are the linchpin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15C85-0CAA-4FA3-90A7-A7A80EA1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8137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They translate, explain, follow up, and create trust.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0BF40-4EA0-4893-8C48-103FB937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3000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FB5F1-9A28-422A-90D9-961617BB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241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E86FA-0D67-41B8-A33A-678E48D2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432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Text-only interfaces fail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37A3E-8088-4E42-9154-FA6FACBB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8137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0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Pictures and voice are essential for low-literacy users.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7372E-8512-4F80-832A-367E07EA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3000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7EBC2-447A-4875-9F78-5F801313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241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58D73-4BD6-4A91-BCEB-1173281B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432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228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Voice helps, infrastructure limits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765AD-1C12-49D2-9801-D59AEB21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8137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5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Pre-loaded audio avoids failed calls and weak networks.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D47DF-2406-4E88-8EA2-57615130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05375"/>
            <a:ext cx="3000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437E1-E452-48E4-B014-2B86C0E5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1149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BADDF-D5FD-4643-9EC3-D8743BD4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1339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59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Reminders change 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82CB5-81C6-416B-9461-7EA90617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5721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6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Vaccination and ANC reminders show measurable gains.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143BF-DB89-4EEC-94CC-61761B97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05375"/>
            <a:ext cx="3000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E4B80-AD90-4828-BF3D-B39BF16F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1149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85C5C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0FC02-4D4C-410E-B205-654E6048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1339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8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Tea-garden trials are missing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767E3C-6CE6-470C-84FD-54351D80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5721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8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Most evidence comes from adjacent settings, not Sylhet plantations.</a:t>
            </a:r>
          </a:p>
        </p:txBody>
      </p:sp>
    </p:spTree>
    <p:extLst>
      <p:ext uri="{BB962C8B-B14F-4D97-AF65-F5344CB8AC3E}">
        <p14:creationId xmlns:p14="http://schemas.microsoft.com/office/powerpoint/2010/main" val="461528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91EFD-DE81-4C8A-9BEA-34467DF5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085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mHealth shows measurable gains, especially when reminders are used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0469F-A039-49F8-883F-FCF14A58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3577F-6E01-4B17-B4F4-CFF601BA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333500" y="2381250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a9bae9fac34de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49C38-0CD7-4170-9760-7DF1D6FF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47925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32F9D-9852-46F6-9666-C3CDB919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4792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2E45B-D7DC-4E8A-B059-674BBC5B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57475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to read this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12310-E74C-479B-BABE-BC855B2C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76575"/>
            <a:ext cx="3600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figures are not one pooled metric; they summarize different evidence signals.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8C7AC-D8CD-41A6-967D-DADFBB5F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48075"/>
            <a:ext cx="3600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57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ANC: 20-40% rise; vaccination OR: 2.15; Bangladesh uptake: 3.6x; CHW coverage: above 90%.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BAF22-2133-43AF-9009-AF94A00A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DB992-E9FD-4ECA-8C60-ED6CF66F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9525">
            <a:solidFill>
              <a:srgbClr val="2C8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A2506-5290-4A31-83E9-8086645B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8155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FC435-0A52-4D0A-A7C7-59524CA0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200650"/>
            <a:ext cx="3600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93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direction of evidence is consistent: reminders and CHW follow-up can improve attendance, vaccination, and knowledge.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7ACA0-2A20-4045-9CA1-6CC0DB8A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676900"/>
            <a:ext cx="3600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13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The review avoids formal meta-analysis because study designs are heterogeneous.</a:t>
            </a:r>
          </a:p>
        </p:txBody>
      </p:sp>
    </p:spTree>
    <p:extLst>
      <p:ext uri="{BB962C8B-B14F-4D97-AF65-F5344CB8AC3E}">
        <p14:creationId xmlns:p14="http://schemas.microsoft.com/office/powerpoint/2010/main" val="2166252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4" name="Rectangle 2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396F2-C598-495C-84E9-C16EB23E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085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CHWs turn digital content into local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05546-8D1D-484A-AEF0-4D7A4CD4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2D5E2-E835-469C-B8CF-DAB90263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DELIVERY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4F31B-50A9-4102-A8D5-C9A1B248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AD14A-A537-461F-AB20-5BA8F92E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76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805F7-83B4-426F-AAA7-361F9B70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67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Language bridge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6CCD1-2188-4103-91DF-61EEDECD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861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2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trusted worker can explain formal health advice in everyday speech.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279C5-5BAF-410F-9089-B92C2119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8152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Important where Sylheti, Chattisheuli, and tribal languages shape daily communication.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DEFAE-E7C0-44EE-B670-3A98DFDB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5750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CA1D1-04A5-4E0A-ADB1-02961E02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57500"/>
            <a:ext cx="76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9525">
            <a:solidFill>
              <a:srgbClr val="2C8B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CE658-A36D-44C3-A788-F7F13E5F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067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Care tracker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DDAC7-25E9-4250-B0C6-A50DCCC3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4861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7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Digital checklists help CHWs track visits, risks, referrals, and overdue mothers.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F26FF-A8AC-4599-AEC9-7C47584F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58152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Bangladesh tablet-supported CHW work sustained visit coverage above 90%.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65017-D878-43CD-A396-2D3D36AB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A8B61-85E6-4BCF-BD86-4B34B054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76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91DCF-0562-4B0D-A856-7A0B39B6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67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Trust builder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492B9-D7F4-4A46-AEE3-803C41C5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861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26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Mothers may act more readily when guidance comes through a known person.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39DD5-8207-44D2-A392-E3DE9ACA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8152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The review repeatedly finds CHW-mediated delivery stronger than direct-to-user messaging.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C178F-9460-4B70-AF2C-9F12F7F1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531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3215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Implementation caution: extra app tasks need supervision, compensation, and recognition, otherwise CHW motivation may fall.</a:t>
            </a:r>
          </a:p>
        </p:txBody>
      </p:sp>
    </p:spTree>
    <p:extLst>
      <p:ext uri="{BB962C8B-B14F-4D97-AF65-F5344CB8AC3E}">
        <p14:creationId xmlns:p14="http://schemas.microsoft.com/office/powerpoint/2010/main" val="2099148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9A539B-A5B4-44B6-BC8F-A8837BD1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085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Low-literacy HCI is not decoration; it determines usability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DF6A3-FDC4-4791-B007-2D9E50E1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FC5BE-663C-4535-A755-E76AD14D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INTERFACE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1406E-BA0F-425D-9D34-12426B81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574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3A018-0275-4429-A44B-99A7FE21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431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89DE4-9046-4458-BBF8-10239FF7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38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Pictorial checklists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0FB4F-0BFF-48E9-98DC-BDC3EC9E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90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Use tappable icons for danger signs, ANC tasks, nutrition, and vaccination steps.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D9205-282C-4DF1-BCD6-D5ECC704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E132E-FC37-478F-94A6-4FFE552B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242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835ED-5E32-436A-9C68-A8EC8B96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194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Voice narration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D9289-D1B2-4EBE-AD62-A3BE226F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718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Narrate each screen in the language mothers actually use at home.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8F805-670C-488E-9FE7-3FA1D827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95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854CA-D6BC-44A0-BBC5-985B363C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052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C8F51-C4CA-4B98-A5B6-B8923F51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005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Flat navigation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E44CB-7F27-46F5-8F12-19EE5636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529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Keep paths short; every additional tap adds a chance for confusion.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13C8A-6718-4CFB-A80B-3DA8E538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E12BF-10F1-45EE-B770-5F6BA769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863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B8757-5C7D-4F56-92DA-D6229753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815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Offline-first operation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13495-5DC9-467A-BC95-C302AFA3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339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Pre-load guidance so the system works when signal disappears.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12C3C-A56F-48CF-88CC-77825886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1C10F-D021-4D72-80D5-A9A4F027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673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80C3E-94BF-4D84-9A66-1F1F68BE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626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Privacy-aware reminders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87021D-7AE2-477E-9575-5B09E878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9150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Design around shared household phones and message visibility.</a:t>
            </a:r>
          </a:p>
        </p:txBody>
      </p:sp>
    </p:spTree>
    <p:extLst>
      <p:ext uri="{BB962C8B-B14F-4D97-AF65-F5344CB8AC3E}">
        <p14:creationId xmlns:p14="http://schemas.microsoft.com/office/powerpoint/2010/main" val="6877940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567B79-E37F-45D3-B642-C98EF2F7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085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useful tool would combine mother guidance and CHW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CC913-18FD-4EB2-9369-3FEE1555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B2AAF-6553-4420-A470-B23A5181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FEATURE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BCAF2-1C2C-4745-8EB4-2C5EACD7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95287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0E7A2-6B48-4818-A232-6627FFB0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4320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329D8-E1F6-49F6-9867-BEB0DA2F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432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9525">
            <a:solidFill>
              <a:srgbClr val="2C8B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0BB03-8D61-498E-A525-90C1143A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19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Mother 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C1B11-B485-462A-A7F6-17A457A9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9052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audio + pictorial 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BDDFA-276C-4374-B83B-8B3647CE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4320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3510F-6B01-4400-9F15-6F420CDD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432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94D08-C2E2-47C2-8B92-82C2BE82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19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CHW 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A1CDD-51FB-4656-BC60-66004469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home visit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69E84-0127-4CB4-914E-06372874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4320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A9FAA-4F10-4ABE-AB1D-B23A0F3C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432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A531A-F27E-4A37-9F86-6EF95240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219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Care schedule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65A5C-E9A1-42DF-9A73-E1A9D50A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9052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ANC, PNC, vaccines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CBEA2-FBEB-4A77-AD29-A3A9391F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4320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65CC4-C47D-485B-BC3E-F6696F27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432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9525">
            <a:solidFill>
              <a:srgbClr val="2C8B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7A11B-BEFC-49F8-AC10-A343F93E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Offline sync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2B5EE3-E7CE-4E76-B776-454E4ECD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store now, sync later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99C4A-C8B9-4096-809A-CB77CBA7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4320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478C6-3163-401C-8C06-36C9E2AE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432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5C"/>
          </a:solidFill>
          <a:ln xmlns:a="http://schemas.openxmlformats.org/drawingml/2006/main" w="9525">
            <a:solidFill>
              <a:srgbClr val="D85C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0A3B71-59BF-41FF-BBCC-1DA1F418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219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AAEAD9-30F1-441A-A22D-479AE3CB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9052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overdue cases + referrals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262AAB-645E-4302-AD92-9A76E35E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57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features: pictorial checklists, pre-loaded Bangla/Sylheti/Chattisheuli audio, vaccination tracker, ANC/PNC schedules, danger-sign alerts, CHW dashboard.</a:t>
            </a:r>
          </a:p>
        </p:txBody>
      </p:sp>
    </p:spTree>
    <p:extLst>
      <p:ext uri="{BB962C8B-B14F-4D97-AF65-F5344CB8AC3E}">
        <p14:creationId xmlns:p14="http://schemas.microsoft.com/office/powerpoint/2010/main" val="19731684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4" name="Rectangle 2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30952-0D49-4A05-A9CA-A5D25EA9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085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biggest evidence gap is inside the tea gardens themselves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5B474-8B77-4E39-96CE-C86DFBB8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5B84F-905D-4442-98D2-F580B61D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CRITICAL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4B20C-674B-4116-9D17-007D1699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peer-reviewed study in the review piloted this exact CHW-plus-mHealth model inside a Sylhet tea garden.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531F1-CEB3-49FC-A6CC-E4DB4440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38625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54BD5-1596-4798-8EB6-BEBB8377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3862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4106C-2228-49B7-BEEF-050284E0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4817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Adjacent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64AA0-B3A8-4271-8D73-1163C3CF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67275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7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comes from rural villages, urban slums, and LMIC programs.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7F356-F5F1-4CE1-9397-78C1365A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482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2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Useful, but not identical to plantation power structures.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CB9AB-19AB-45F6-B57F-1A80167B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38625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492F9-DF03-4440-AFFD-FC2288E5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3862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9525">
            <a:solidFill>
              <a:srgbClr val="2C8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442D8-6B4E-42BA-8215-215CAB7F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44817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Language specificity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E6672-3D22-4055-97D0-F58D6212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867275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Chattisheuli and tribal-language interfaces remain untested.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A41AF-FFA7-457C-9737-28BBF5BA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2482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2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Formal Bangla audio may still miss everyday comprehension.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31FD2-5C30-4E04-8C83-D96C363B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38625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89E79-A97C-4DA6-BD0B-6D7DB620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3862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5C"/>
          </a:solidFill>
          <a:ln xmlns:a="http://schemas.openxmlformats.org/drawingml/2006/main" w="9525">
            <a:solidFill>
              <a:srgbClr val="D85C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E4781-9958-4708-A3E9-C7195588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4817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Institutional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183F7-8AAB-46D4-9560-76EE80DB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67275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57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Health posts are often employer-linked and under-resourced.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895C4-18AB-4FEC-AC01-5A0994D5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482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23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0"/>
                </a:solidFill>
                <a:latin typeface="Helvetica Neue"/>
                <a:ea typeface="Helvetica Neue"/>
                <a:cs typeface="Helvetica Neue"/>
              </a:rPr>
              <a:t>Care-seeking depends on labour schedules and mobility constraints.</a:t>
            </a:r>
          </a:p>
        </p:txBody>
      </p:sp>
    </p:spTree>
    <p:extLst>
      <p:ext uri="{BB962C8B-B14F-4D97-AF65-F5344CB8AC3E}">
        <p14:creationId xmlns:p14="http://schemas.microsoft.com/office/powerpoint/2010/main" val="6724797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4FB21-FAD6-470D-BEBC-2C159A87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08585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review is useful, but its limits must shape the next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40DF7-37DA-47C7-B4B3-393E177C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A893F-35BD-4D40-B884-585CE613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914C1-D1B2-4BBC-A1AF-7A6AD31A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E0F0E-1A5A-43CC-BB82-F52D34C4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0ABDB-B3A8-4B6A-A188-A2582C77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0289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Searches were restricted to English-language publications and major databases.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D789D-C206-435D-95C1-8D9A94B9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1F4A9-E60E-434A-B5E1-A83A0375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69570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field changes quickly; the review search ended in January 2025.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B45FC-EF07-43FF-AA90-78B26CF0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48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F4CA5-0129-4F2E-91AF-D88419E9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624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Study designs varied too much for a meaningful formal meta-analysis.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8A1F7-71F0-42FA-96A2-761C6CFE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Design limitations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DC5FA-168F-4CBD-BC8B-976E9224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solidFill>
              <a:srgbClr val="2C8B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F88E4-CA01-4B91-B891-197C3627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289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Tea-garden-specific mHealth evidence is nearly absent.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F5F13-B806-42E0-9E2A-05CD911E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solidFill>
              <a:srgbClr val="2C8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A1A2A-29CF-4A52-85A4-893EA4F0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69570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Device ownership, shared-phone practices, and network reliability need mapping.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823EC-8DF5-4BA3-AE23-5F7B879C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48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B68"/>
          </a:solidFill>
          <a:ln xmlns:a="http://schemas.openxmlformats.org/drawingml/2006/main" w="0">
            <a:solidFill>
              <a:srgbClr val="2C8B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5177D-B1B2-43D2-A201-8E4414E3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3624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Chattisheuli audio and culturally grounded visuals need participatory validation.</a:t>
            </a:r>
          </a:p>
        </p:txBody>
      </p:sp>
    </p:spTree>
    <p:extLst>
      <p:ext uri="{BB962C8B-B14F-4D97-AF65-F5344CB8AC3E}">
        <p14:creationId xmlns:p14="http://schemas.microsoft.com/office/powerpoint/2010/main" val="14221831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EBCD6-07BD-4E5C-99E7-5EE5D74A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1620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Cautious yes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0B712-7739-4DE0-B2FB-BB50235B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524125"/>
            <a:ext cx="981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8077"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evidence supports co-design and field testing, not immediate deployment.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01CE8-7088-43FD-9406-3618A40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72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A81E3-6555-424B-AD30-A439FEE4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72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Co-design with mothers and CHWs inside tea gardens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202E2-D82D-4BC5-8A99-EC6AAB56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81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22249-865B-49B8-BC76-70949377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815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 devices, language, phone sharing, and network reliability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92287-B961-49E3-A63C-44C66221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91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C2EC7-B6D0-4FEF-8F99-76318AC1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911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Prototype pictorial and audio-first workflows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FB279-9B87-4AF8-AE04-8E300C1D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00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E2D18-8638-4FAA-8C98-E2879E29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8007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a cluster-randomized or stepped-wedge field trial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08C22-20BC-4753-9F2A-124117A6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10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85C5C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96DB5-B1E5-4345-B2DC-11474768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210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 sustainability before donor or pilot support ends</a:t>
            </a:r>
          </a:p>
        </p:txBody>
      </p:sp>
    </p:spTree>
    <p:extLst>
      <p:ext uri="{BB962C8B-B14F-4D97-AF65-F5344CB8AC3E}">
        <p14:creationId xmlns:p14="http://schemas.microsoft.com/office/powerpoint/2010/main" val="15150838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2026-08-09T07:54:51.3310000Z</dcterms:created>
  <dcterms:modified xsi:type="dcterms:W3CDTF">2026-08-09T07:54:51.3310000Z</dcterms:modified>
</coreProperties>
</file>