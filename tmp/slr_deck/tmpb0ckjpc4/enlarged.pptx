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e66e7ae7dce4763" Type="http://schemas.openxmlformats.org/package/2006/relationships/metadata/core-properties" Target="docProps/core.xml"/><Relationship Id="R957232f3c9024019" Type="http://schemas.openxmlformats.org/officeDocument/2006/relationships/officeDocument" Target="ppt/presentation.xml"/><Relationship Id="Rcd40c606fbf14810"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284134dc0bec41f6"/>
  </p:sldMasterIdLst>
  <p:notesMasterIdLst>
    <p:notesMasterId xmlns:r="http://schemas.openxmlformats.org/officeDocument/2006/relationships" r:id="Rc277e1390fe9405b"/>
  </p:notesMasterIdLst>
  <p:sldIdLst>
    <p:sldId xmlns:r="http://schemas.openxmlformats.org/officeDocument/2006/relationships" id="256" r:id="R7cabecc336ff4554"/>
    <p:sldId xmlns:r="http://schemas.openxmlformats.org/officeDocument/2006/relationships" id="257" r:id="R0f0802cb6ac042b6"/>
    <p:sldId xmlns:r="http://schemas.openxmlformats.org/officeDocument/2006/relationships" id="258" r:id="R11388ba20cf145d3"/>
    <p:sldId xmlns:r="http://schemas.openxmlformats.org/officeDocument/2006/relationships" id="259" r:id="R2dea5b14a32b43b5"/>
    <p:sldId xmlns:r="http://schemas.openxmlformats.org/officeDocument/2006/relationships" id="260" r:id="Ra90b52aa22244c5a"/>
    <p:sldId xmlns:r="http://schemas.openxmlformats.org/officeDocument/2006/relationships" id="261" r:id="R943284538a16477d"/>
    <p:sldId xmlns:r="http://schemas.openxmlformats.org/officeDocument/2006/relationships" id="262" r:id="Ra40db1072464416d"/>
    <p:sldId xmlns:r="http://schemas.openxmlformats.org/officeDocument/2006/relationships" id="263" r:id="Ra6be53caaf0b435e"/>
    <p:sldId xmlns:r="http://schemas.openxmlformats.org/officeDocument/2006/relationships" id="264" r:id="R5d55cdeb372f4bac"/>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f0802cb6ac042b6" Type="http://schemas.openxmlformats.org/officeDocument/2006/relationships/slide" Target="slides/slide2.xml"/><Relationship Id="R11388ba20cf145d3" Type="http://schemas.openxmlformats.org/officeDocument/2006/relationships/slide" Target="slides/slide3.xml"/><Relationship Id="R284134dc0bec41f6" Type="http://schemas.openxmlformats.org/officeDocument/2006/relationships/slideMaster" Target="slideMasters/slideMaster1.xml"/><Relationship Id="R2dea5b14a32b43b5" Type="http://schemas.openxmlformats.org/officeDocument/2006/relationships/slide" Target="slides/slide4.xml"/><Relationship Id="R5d55cdeb372f4bac" Type="http://schemas.openxmlformats.org/officeDocument/2006/relationships/slide" Target="slides/slide9.xml"/><Relationship Id="R7cabecc336ff4554" Type="http://schemas.openxmlformats.org/officeDocument/2006/relationships/slide" Target="slides/slide1.xml"/><Relationship Id="R943284538a16477d" Type="http://schemas.openxmlformats.org/officeDocument/2006/relationships/slide" Target="slides/slide6.xml"/><Relationship Id="R9bafcc0409cc4b5c" Type="http://schemas.openxmlformats.org/officeDocument/2006/relationships/theme" Target="theme/theme1.xml"/><Relationship Id="Ra40db1072464416d" Type="http://schemas.openxmlformats.org/officeDocument/2006/relationships/slide" Target="slides/slide7.xml"/><Relationship Id="Ra6be53caaf0b435e" Type="http://schemas.openxmlformats.org/officeDocument/2006/relationships/slide" Target="slides/slide8.xml"/><Relationship Id="Ra90b52aa22244c5a" Type="http://schemas.openxmlformats.org/officeDocument/2006/relationships/slide" Target="slides/slide5.xml"/><Relationship Id="Rc277e1390fe9405b" Type="http://schemas.openxmlformats.org/officeDocument/2006/relationships/notesMaster" Target="notesMasters/notesMaster1.xml"/><Relationship Id="Rc68d96a1464d4a3a" Type="http://schemas.openxmlformats.org/officeDocument/2006/relationships/presProps" Target="presProps.xml"/><Relationship Id="Rd285d8c94d324ab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b7f447450f66423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29d6925237d42e2" Type="http://schemas.openxmlformats.org/officeDocument/2006/relationships/notesMaster" Target="../notesMasters/notesMaster1.xml"/><Relationship Id="Re192ec7b8c8d4b80"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0658792e2bf43fb" Type="http://schemas.openxmlformats.org/officeDocument/2006/relationships/slide" Target="../slides/slide2.xml"/><Relationship Id="R7eee21f5818b4cb6"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39f1ce349d34769" Type="http://schemas.openxmlformats.org/officeDocument/2006/relationships/slide" Target="../slides/slide3.xml"/><Relationship Id="R4ff4e241c6e648e0"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bd692dd5bc44c24" Type="http://schemas.openxmlformats.org/officeDocument/2006/relationships/notesMaster" Target="../notesMasters/notesMaster1.xml"/><Relationship Id="R886cc37b629c48f5"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d2e65a108f44e45" Type="http://schemas.openxmlformats.org/officeDocument/2006/relationships/notesMaster" Target="../notesMasters/notesMaster1.xml"/><Relationship Id="Ra171ce9a140d4fe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911d4add3074682" Type="http://schemas.openxmlformats.org/officeDocument/2006/relationships/notesMaster" Target="../notesMasters/notesMaster1.xml"/><Relationship Id="Rad612fa0021544b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8e96017f923b488a" Type="http://schemas.openxmlformats.org/officeDocument/2006/relationships/notesMaster" Target="../notesMasters/notesMaster1.xml"/><Relationship Id="Ra1b85620268f44d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f43b8b6d0004b1c" Type="http://schemas.openxmlformats.org/officeDocument/2006/relationships/notesMaster" Target="../notesMasters/notesMaster1.xml"/><Relationship Id="R5cbff4eff0e4402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91a5beabb78409d" Type="http://schemas.openxmlformats.org/officeDocument/2006/relationships/slide" Target="../slides/slide9.xml"/><Relationship Id="R871a6bf9672c43d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the paper as a review of what the evidence supports, what it does not yet prove, and why that distinction matters for Sylhet tea-garden families.</a:t>
            </a:r>
          </a:p>
          <a:p xmlns:a="http://schemas.openxmlformats.org/drawingml/2006/main">
            <a:r>
              <a:t/>
            </a:r>
          </a:p>
          <a:p xmlns:a="http://schemas.openxmlformats.org/drawingml/2006/main">
            <a:r>
              <a:t>[Sources]</a:t>
            </a:r>
          </a:p>
          <a:p xmlns:a="http://schemas.openxmlformats.org/drawingml/2006/main">
            <a:r>
              <a:t>SLR.pdf, page 1: title and abstract.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up the design challenge. The review argues that national progress hides harsher local conditions in Sylhet tea estates, while phone access makes mHealth plausible if the interface is shaped for the community.</a:t>
            </a:r>
          </a:p>
          <a:p xmlns:a="http://schemas.openxmlformats.org/drawingml/2006/main">
            <a:r>
              <a:t/>
            </a:r>
          </a:p>
          <a:p xmlns:a="http://schemas.openxmlformats.org/drawingml/2006/main">
            <a:r>
              <a:t>[Sources]</a:t>
            </a:r>
          </a:p>
          <a:p xmlns:a="http://schemas.openxmlformats.org/drawingml/2006/main">
            <a:r>
              <a:t>SLR.pdf, pages 1-3: introduction, tea-garden context, and mobile subscription context.</a:t>
            </a:r>
          </a:p>
          <a:p xmlns:a="http://schemas.openxmlformats.org/drawingml/2006/main">
            <a:r>
              <a:t>SLR.pdf, page 2: low literacy, language, clinic access, and wage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paper is a systematic review rather than a field trial. The funnel makes the screening process visible without asking the audience to read the full method section.</a:t>
            </a:r>
          </a:p>
          <a:p xmlns:a="http://schemas.openxmlformats.org/drawingml/2006/main">
            <a:r>
              <a:t/>
            </a:r>
          </a:p>
          <a:p xmlns:a="http://schemas.openxmlformats.org/drawingml/2006/main">
            <a:r>
              <a:t>[Sources]</a:t>
            </a:r>
          </a:p>
          <a:p xmlns:a="http://schemas.openxmlformats.org/drawingml/2006/main">
            <a:r>
              <a:t>SLR.pdf, pages 5-7: research questions, search strings, databases, inclusion criteria, and screening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numbers are not a single metric: ANC is a percent increase range summarized at 30 percent, vaccination odds are OR 2.15, Bangladesh vaccination uptake is 3.6x, and CHW coverage is above 90 percent. The point is that multiple evidence streams point in the same practical direction.</a:t>
            </a:r>
          </a:p>
          <a:p xmlns:a="http://schemas.openxmlformats.org/drawingml/2006/main">
            <a:r>
              <a:t/>
            </a:r>
          </a:p>
          <a:p xmlns:a="http://schemas.openxmlformats.org/drawingml/2006/main">
            <a:r>
              <a:t>[Sources]</a:t>
            </a:r>
          </a:p>
          <a:p xmlns:a="http://schemas.openxmlformats.org/drawingml/2006/main">
            <a:r>
              <a:t>SLR.pdf, pages 4 and 8: ANC, vaccination, CHW effectiveness, and HCI findings.</a:t>
            </a:r>
          </a:p>
          <a:p xmlns:a="http://schemas.openxmlformats.org/drawingml/2006/main">
            <a:r>
              <a:t>SLR.pdf, page 11: limitation that heterogeneous studies were not pooled into a formal meta-analysis.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CHW not as an accessory, but as the human bridge between evidence, technology, language, and household decision-making. Then note the workload caveat, because adoption depends on CHWs too.</a:t>
            </a:r>
          </a:p>
          <a:p xmlns:a="http://schemas.openxmlformats.org/drawingml/2006/main">
            <a:r>
              <a:t/>
            </a:r>
          </a:p>
          <a:p xmlns:a="http://schemas.openxmlformats.org/drawingml/2006/main">
            <a:r>
              <a:t>[Sources]</a:t>
            </a:r>
          </a:p>
          <a:p xmlns:a="http://schemas.openxmlformats.org/drawingml/2006/main">
            <a:r>
              <a:t>SLR.pdf, pages 7-8: CHWs as linchpin and visit coverage above 90 percent in the Bangladesh tablet-supported trial.</a:t>
            </a:r>
          </a:p>
          <a:p xmlns:a="http://schemas.openxmlformats.org/drawingml/2006/main">
            <a:r>
              <a:t>SLR.pdf, page 8: concern about CHW motivation and the need for supportive supervision.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shift from outcomes to design. The paper argues that text-first apps are not neutral; in this setting, they actively exclude the people the system is supposed to help.</a:t>
            </a:r>
          </a:p>
          <a:p xmlns:a="http://schemas.openxmlformats.org/drawingml/2006/main">
            <a:r>
              <a:t/>
            </a:r>
          </a:p>
          <a:p xmlns:a="http://schemas.openxmlformats.org/drawingml/2006/main">
            <a:r>
              <a:t>[Sources]</a:t>
            </a:r>
          </a:p>
          <a:p xmlns:a="http://schemas.openxmlformats.org/drawingml/2006/main">
            <a:r>
              <a:t>SLR.pdf, pages 3 and 8: HCI evidence on graphics, voice, flat menus, local language, and low-literacy use.</a:t>
            </a:r>
          </a:p>
          <a:p xmlns:a="http://schemas.openxmlformats.org/drawingml/2006/main">
            <a:r>
              <a:t>SLR.pdf, page 12: need to map device ownership, handset types, shared phones, and network 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this is a feature-level architecture synthesized from the literature, not a validated product. The review specifically says field testing and participatory co-design must come before deployment.</a:t>
            </a:r>
          </a:p>
          <a:p xmlns:a="http://schemas.openxmlformats.org/drawingml/2006/main">
            <a:r>
              <a:t/>
            </a:r>
          </a:p>
          <a:p xmlns:a="http://schemas.openxmlformats.org/drawingml/2006/main">
            <a:r>
              <a:t>[Sources]</a:t>
            </a:r>
          </a:p>
          <a:p xmlns:a="http://schemas.openxmlformats.org/drawingml/2006/main">
            <a:r>
              <a:t>SLR.pdf, pages 9-10: proposed feature map and feature-rationale table.</a:t>
            </a:r>
          </a:p>
          <a:p xmlns:a="http://schemas.openxmlformats.org/drawingml/2006/main">
            <a:r>
              <a:t>SLR.pdf, pages 12-13: conclusion that the design is ready for scrutiny and controlled testing, not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caution slide. The literature supports the direction, but the review repeatedly warns that tea gardens have distinctive economic, linguistic, and institutional conditions.</a:t>
            </a:r>
          </a:p>
          <a:p xmlns:a="http://schemas.openxmlformats.org/drawingml/2006/main">
            <a:r>
              <a:t/>
            </a:r>
          </a:p>
          <a:p xmlns:a="http://schemas.openxmlformats.org/drawingml/2006/main">
            <a:r>
              <a:t>[Sources]</a:t>
            </a:r>
          </a:p>
          <a:p xmlns:a="http://schemas.openxmlformats.org/drawingml/2006/main">
            <a:r>
              <a:t>SLR.pdf, pages 8-9: absence of peer-reviewed mHealth trials inside Bangladeshi tea gardens.</a:t>
            </a:r>
          </a:p>
          <a:p xmlns:a="http://schemas.openxmlformats.org/drawingml/2006/main">
            <a:r>
              <a:t>SLR.pdf, page 11: review limitations, adjacent-context inference, heterogeneous designs, and language 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question. The review's answer is that CHW-backed mHealth is promising, especially for reminders, awareness, and follow-up, but it must be tested inside the actual community before anyone treats it as a solution.</a:t>
            </a:r>
          </a:p>
          <a:p xmlns:a="http://schemas.openxmlformats.org/drawingml/2006/main">
            <a:r>
              <a:t/>
            </a:r>
          </a:p>
          <a:p xmlns:a="http://schemas.openxmlformats.org/drawingml/2006/main">
            <a:r>
              <a:t>[Sources]</a:t>
            </a:r>
          </a:p>
          <a:p xmlns:a="http://schemas.openxmlformats.org/drawingml/2006/main">
            <a:r>
              <a:t>SLR.pdf, pages 11-13: next research directions and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d2f1752dace4cb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b4c41e159244463a" Type="http://schemas.openxmlformats.org/officeDocument/2006/relationships/theme" Target="theme/theme2.xml"/><Relationship Id="Rdc71c970f78c4a8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71c970f78c4a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12662395410405c" Type="http://schemas.openxmlformats.org/officeDocument/2006/relationships/slideLayout" Target="../slideLayouts/slideLayout1.xml"/><Relationship Id="Re8fabc68055c4f7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b0e72ba5745d4746" Type="http://schemas.openxmlformats.org/officeDocument/2006/relationships/notesSlide" Target="../notesSlides/notesSlide2.xml"/><Relationship Id="Rdb4c3f38c34f4ef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0d3875bba41d491b" Type="http://schemas.openxmlformats.org/officeDocument/2006/relationships/notesSlide" Target="../notesSlides/notesSlide3.xml"/><Relationship Id="Ra96e3efdcdff499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d962b3cc7e4d457c" Type="http://schemas.openxmlformats.org/officeDocument/2006/relationships/notesSlide" Target="../notesSlides/notesSlide4.xml"/><Relationship Id="Re1142f0497f242eb" Type="http://schemas.openxmlformats.org/officeDocument/2006/relationships/slideLayout" Target="../slideLayouts/slideLayout1.xml"/><Relationship Id="Rec8ba2a877e34938" Type="http://schemas.openxmlformats.org/officeDocument/2006/relationships/chart" Target="charts/chart1.xml"/></Relationships>
</file>

<file path=ppt/slides/_rels/slide5.xml.rels><?xml version='1.0' encoding='UTF-8' standalone='yes'?>
<Relationships xmlns="http://schemas.openxmlformats.org/package/2006/relationships"><Relationship Id="R39e4b62fdacc4e3d" Type="http://schemas.openxmlformats.org/officeDocument/2006/relationships/slideLayout" Target="../slideLayouts/slideLayout1.xml"/><Relationship Id="R635c03b581c043bb"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b0dfe6bcfdb4c46" Type="http://schemas.openxmlformats.org/officeDocument/2006/relationships/slideLayout" Target="../slideLayouts/slideLayout1.xml"/><Relationship Id="R4c7842a630da499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43d852d94d14fed" Type="http://schemas.openxmlformats.org/officeDocument/2006/relationships/notesSlide" Target="../notesSlides/notesSlide7.xml"/><Relationship Id="Ra29cf50f388d437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2861c7e04e114b5a" Type="http://schemas.openxmlformats.org/officeDocument/2006/relationships/notesSlide" Target="../notesSlides/notesSlide8.xml"/><Relationship Id="Re7486db2513a4bba"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b57d2773c2244ff" Type="http://schemas.openxmlformats.org/officeDocument/2006/relationships/notesSlide" Target="../notesSlides/notesSlide9.xml"/><Relationship Id="R2986506b0c6c47c4" Type="http://schemas.openxmlformats.org/officeDocument/2006/relationships/slideLayout" Target="../slideLayouts/slideLayout1.xml"/></Relationships>
</file>

<file path=ppt/slides/charts/chart1.xml><?xml version="1.0" encoding="utf-8"?>
<c:chartSpace xmlns:c="http://schemas.openxmlformats.org/drawingml/2006/chart">
  <c:lang val="en-US"/>
  <c:chart>
    <c:plotArea>
      <c:barChart>
        <c:barDir val="bar"/>
        <c:grouping val="clustered"/>
        <c:varyColors val="0"/>
        <c:ser>
          <c:idx val="0"/>
          <c:order val="0"/>
          <c:tx>
            <c:v>Evidence signal</c:v>
          </c:tx>
          <c:spPr>
            <a:solidFill xmlns:a="http://schemas.openxmlformats.org/drawingml/2006/main">
              <a:srgbClr val="3D8DFF"/>
            </a:solidFill>
          </c:spPr>
          <c:cat>
            <c:strLit>
              <c:ptCount val="4"/>
              <c:pt idx="0">
                <c:v>ANC attendance</c:v>
              </c:pt>
              <c:pt idx="1">
                <c:v>Vaccination odds</c:v>
              </c:pt>
              <c:pt idx="2">
                <c:v>BD vaccination uptake</c:v>
              </c:pt>
              <c:pt idx="3">
                <c:v>CHW visit coverage</c:v>
              </c:pt>
            </c:strLit>
          </c:cat>
          <c:val>
            <c:numLit>
              <c:formatCode>General</c:formatCode>
              <c:ptCount val="4"/>
              <c:pt idx="0">
                <c:v>30</c:v>
              </c:pt>
              <c:pt idx="1">
                <c:v>2.15</c:v>
              </c:pt>
              <c:pt idx="2">
                <c:v>3.6</c:v>
              </c:pt>
              <c:pt idx="3">
                <c:v>90</c:v>
              </c:pt>
            </c:numLit>
          </c:val>
        </c:ser>
        <c:dLbls>
          <c:txPr>
            <a:bodyPr xmlns:a="http://schemas.openxmlformats.org/drawingml/2006/main" anchorCtr="1"/>
            <a:lstStyle xmlns:a="http://schemas.openxmlformats.org/drawingml/2006/main"/>
            <a:p xmlns:a="http://schemas.openxmlformats.org/drawingml/2006/main">
              <a:pPr>
                <a:defRPr sz="900" b="1">
                  <a:solidFill>
                    <a:srgbClr val="000000"/>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D6470"/>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defRPr>
            </a:pPr>
          </a:p>
        </c:txPr>
        <c:crossAx val="48650112"/>
        <c:crossBetween val="between"/>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0" name="Rectangle 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ectangle 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Rectangle 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
            <a:extLst xmlns:a="http://schemas.openxmlformats.org/drawingml/2006/main">
              <a:ext uri="{FF2B5EF4-FFF2-40B4-BE49-F238E27FC236}">
                <a16:creationId xmlns:a16="http://schemas.microsoft.com/office/drawing/2014/main" id="{7658CE8F-716D-4ED4-AC25-3D67C941D137}"/>
              </a:ext>
            </a:extLst>
          </p:cNvPr>
          <p:cNvSpPr>
            <a:spLocks xmlns:a="http://schemas.openxmlformats.org/drawingml/2006/main" noGrp="1"/>
          </p:cNvSpPr>
          <p:nvPr/>
        </p:nvSpPr>
        <p:spPr>
          <a:xfrm xmlns:a="http://schemas.openxmlformats.org/drawingml/2006/main">
            <a:off x="1152525" y="1152525"/>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SLR</a:t>
            </a:r>
          </a:p>
        </p:txBody>
      </p:sp>
      <p:sp>
        <p:nvSpPr>
          <p:cNvPr id="2" name="">
            <a:extLst xmlns:a="http://schemas.openxmlformats.org/drawingml/2006/main">
              <a:ext uri="{FF2B5EF4-FFF2-40B4-BE49-F238E27FC236}">
                <a16:creationId xmlns:a16="http://schemas.microsoft.com/office/drawing/2014/main" id="{0AF40ED5-B116-4904-9D02-B7F2E4E48EA2}"/>
              </a:ext>
            </a:extLst>
          </p:cNvPr>
          <p:cNvSpPr>
            <a:spLocks xmlns:a="http://schemas.openxmlformats.org/drawingml/2006/main" noGrp="1"/>
          </p:cNvSpPr>
          <p:nvPr/>
        </p:nvSpPr>
        <p:spPr>
          <a:xfrm xmlns:a="http://schemas.openxmlformats.org/drawingml/2006/main">
            <a:off x="1152525" y="2152650"/>
            <a:ext cx="11401425"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
            <a:extLst xmlns:a="http://schemas.openxmlformats.org/drawingml/2006/main">
              <a:ext uri="{FF2B5EF4-FFF2-40B4-BE49-F238E27FC236}">
                <a16:creationId xmlns:a16="http://schemas.microsoft.com/office/drawing/2014/main" id="{436D91B5-60CD-48D4-8FD4-27B704D29F23}"/>
              </a:ext>
            </a:extLst>
          </p:cNvPr>
          <p:cNvSpPr>
            <a:spLocks xmlns:a="http://schemas.openxmlformats.org/drawingml/2006/main" noGrp="1"/>
          </p:cNvSpPr>
          <p:nvPr/>
        </p:nvSpPr>
        <p:spPr>
          <a:xfrm xmlns:a="http://schemas.openxmlformats.org/drawingml/2006/main">
            <a:off x="1152525" y="2724150"/>
            <a:ext cx="9858375"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100000"/>
          </a:bodyPr>
          <a:lstStyle xmlns:a="http://schemas.openxmlformats.org/drawingml/2006/main"/>
          <a:p xmlns:a="http://schemas.openxmlformats.org/drawingml/2006/main">
            <a:pPr algn="l">
              <a:defRPr sz="4050" b="0">
                <a:solidFill>
                  <a:srgbClr val="000000"/>
                </a:solidFill>
                <a:latin typeface="Helvetica Neue"/>
                <a:ea typeface="Helvetica Neue"/>
                <a:cs typeface="Helvetica Neue"/>
              </a:defRPr>
            </a:pPr>
            <a:r>
              <a:rPr sz="4050" b="0">
                <a:solidFill>
                  <a:srgbClr val="000000"/>
                </a:solidFill>
                <a:latin typeface="Helvetica Neue"/>
                <a:ea typeface="Helvetica Neue"/>
                <a:cs typeface="Helvetica Neue"/>
              </a:rPr>
              <a:t>CHW-Assisted mHealth for Sylhet Tea-Garden Families</a:t>
            </a:r>
          </a:p>
        </p:txBody>
      </p:sp>
      <p:sp>
        <p:nvSpPr>
          <p:cNvPr id="4" name="">
            <a:extLst xmlns:a="http://schemas.openxmlformats.org/drawingml/2006/main">
              <a:ext uri="{FF2B5EF4-FFF2-40B4-BE49-F238E27FC236}">
                <a16:creationId xmlns:a16="http://schemas.microsoft.com/office/drawing/2014/main" id="{8C2A558B-062B-4D97-B10A-94BEF0D8754E}"/>
              </a:ext>
            </a:extLst>
          </p:cNvPr>
          <p:cNvSpPr>
            <a:spLocks xmlns:a="http://schemas.openxmlformats.org/drawingml/2006/main" noGrp="1"/>
          </p:cNvSpPr>
          <p:nvPr/>
        </p:nvSpPr>
        <p:spPr>
          <a:xfrm xmlns:a="http://schemas.openxmlformats.org/drawingml/2006/main">
            <a:off x="1152525" y="5572125"/>
            <a:ext cx="742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100" b="0">
                <a:solidFill>
                  <a:srgbClr val="5D6470"/>
                </a:solidFill>
                <a:latin typeface="Helvetica Neue"/>
                <a:ea typeface="Helvetica Neue"/>
                <a:cs typeface="Helvetica Neue"/>
              </a:defRPr>
            </a:pPr>
            <a:r>
              <a:rPr sz="2100" b="0">
                <a:solidFill>
                  <a:srgbClr val="5D6470"/>
                </a:solidFill>
                <a:latin typeface="Helvetica Neue"/>
                <a:ea typeface="Helvetica Neue"/>
                <a:cs typeface="Helvetica Neue"/>
              </a:rPr>
              <a:t>Evidence review for maternal and child health awareness</a:t>
            </a:r>
          </a:p>
        </p:txBody>
      </p:sp>
      <p:sp>
        <p:nvSpPr>
          <p:cNvPr id="5" name="">
            <a:extLst xmlns:a="http://schemas.openxmlformats.org/drawingml/2006/main">
              <a:ext uri="{FF2B5EF4-FFF2-40B4-BE49-F238E27FC236}">
                <a16:creationId xmlns:a16="http://schemas.microsoft.com/office/drawing/2014/main" id="{31CB567B-BDE4-437C-BE43-3E5748733E67}"/>
              </a:ext>
            </a:extLst>
          </p:cNvPr>
          <p:cNvSpPr>
            <a:spLocks xmlns:a="http://schemas.openxmlformats.org/drawingml/2006/main" noGrp="1"/>
          </p:cNvSpPr>
          <p:nvPr/>
        </p:nvSpPr>
        <p:spPr>
          <a:xfrm xmlns:a="http://schemas.openxmlformats.org/drawingml/2006/main">
            <a:off x="1152525" y="63436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Md. Forhad Hasan Jewel and Muhammad Milon</a:t>
            </a:r>
          </a:p>
        </p:txBody>
      </p:sp>
    </p:spTree>
    <p:extLst>
      <p:ext uri="{BB962C8B-B14F-4D97-AF65-F5344CB8AC3E}">
        <p14:creationId xmlns:p14="http://schemas.microsoft.com/office/powerpoint/2010/main" val="144210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3F5FE415-2CFB-4F6A-B647-411C5151C5D4}"/>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The problem is not only access; it is fit</a:t>
            </a:r>
          </a:p>
        </p:txBody>
      </p:sp>
      <p:sp>
        <p:nvSpPr>
          <p:cNvPr id="2" name="">
            <a:extLst xmlns:a="http://schemas.openxmlformats.org/drawingml/2006/main">
              <a:ext uri="{FF2B5EF4-FFF2-40B4-BE49-F238E27FC236}">
                <a16:creationId xmlns:a16="http://schemas.microsoft.com/office/drawing/2014/main" id="{4AF7819F-7E37-4E11-AB52-A2A731F649E0}"/>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B66CFECC-C400-4770-8F6F-8E80336E8E44}"/>
              </a:ext>
            </a:extLst>
          </p:cNvPr>
          <p:cNvSpPr>
            <a:spLocks xmlns:a="http://schemas.openxmlformats.org/drawingml/2006/main" noGrp="1"/>
          </p:cNvSpPr>
          <p:nvPr/>
        </p:nvSpPr>
        <p:spPr>
          <a:xfrm xmlns:a="http://schemas.openxmlformats.org/drawingml/2006/main">
            <a:off x="1152525" y="2190750"/>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210"/>
          </a:bodyPr>
          <a:lstStyle xmlns:a="http://schemas.openxmlformats.org/drawingml/2006/main"/>
          <a:p xmlns:a="http://schemas.openxmlformats.org/drawingml/2006/main">
            <a:pPr algn="l">
              <a:defRPr sz="2025" b="0">
                <a:solidFill>
                  <a:srgbClr val="5D6470"/>
                </a:solidFill>
                <a:latin typeface="Helvetica Neue"/>
                <a:ea typeface="Helvetica Neue"/>
                <a:cs typeface="Helvetica Neue"/>
              </a:defRPr>
            </a:pPr>
            <a:r>
              <a:rPr sz="2025" b="0">
                <a:solidFill>
                  <a:srgbClr val="5D6470"/>
                </a:solidFill>
                <a:latin typeface="Helvetica Neue"/>
                <a:ea typeface="Helvetica Neue"/>
                <a:cs typeface="Helvetica Neue"/>
              </a:rPr>
              <a:t>Tea-garden families face overlapping barriers that a generic health app would miss.</a:t>
            </a:r>
          </a:p>
        </p:txBody>
      </p:sp>
      <p:sp>
        <p:nvSpPr>
          <p:cNvPr id="4" name="">
            <a:extLst xmlns:a="http://schemas.openxmlformats.org/drawingml/2006/main">
              <a:ext uri="{FF2B5EF4-FFF2-40B4-BE49-F238E27FC236}">
                <a16:creationId xmlns:a16="http://schemas.microsoft.com/office/drawing/2014/main" id="{4D9B3146-BC99-4735-9BD6-D4297A5ECA40}"/>
              </a:ext>
            </a:extLst>
          </p:cNvPr>
          <p:cNvSpPr>
            <a:spLocks xmlns:a="http://schemas.openxmlformats.org/drawingml/2006/main" noGrp="1"/>
          </p:cNvSpPr>
          <p:nvPr/>
        </p:nvSpPr>
        <p:spPr>
          <a:xfrm xmlns:a="http://schemas.openxmlformats.org/drawingml/2006/main">
            <a:off x="1152525" y="3619500"/>
            <a:ext cx="2381250" cy="14668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D84A7B-2947-4668-8506-B5074055E803}"/>
              </a:ext>
            </a:extLst>
          </p:cNvPr>
          <p:cNvSpPr>
            <a:spLocks xmlns:a="http://schemas.openxmlformats.org/drawingml/2006/main" noGrp="1"/>
          </p:cNvSpPr>
          <p:nvPr/>
        </p:nvSpPr>
        <p:spPr>
          <a:xfrm xmlns:a="http://schemas.openxmlformats.org/drawingml/2006/main">
            <a:off x="1381125" y="3867150"/>
            <a:ext cx="1924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333"/>
          </a:bodyPr>
          <a:lstStyle xmlns:a="http://schemas.openxmlformats.org/drawingml/2006/main"/>
          <a:p xmlns:a="http://schemas.openxmlformats.org/drawingml/2006/main">
            <a:pPr algn="l">
              <a:defRPr sz="3000" b="1">
                <a:solidFill>
                  <a:srgbClr val="3D8DFF"/>
                </a:solidFill>
                <a:latin typeface="Helvetica Neue"/>
                <a:ea typeface="Helvetica Neue"/>
                <a:cs typeface="Helvetica Neue"/>
              </a:defRPr>
            </a:pPr>
            <a:r>
              <a:rPr sz="3000" b="1">
                <a:solidFill>
                  <a:srgbClr val="3D8DFF"/>
                </a:solidFill>
                <a:latin typeface="Helvetica Neue"/>
                <a:ea typeface="Helvetica Neue"/>
                <a:cs typeface="Helvetica Neue"/>
              </a:rPr>
              <a:t>360k</a:t>
            </a:r>
          </a:p>
        </p:txBody>
      </p:sp>
      <p:sp>
        <p:nvSpPr>
          <p:cNvPr id="6" name="">
            <a:extLst xmlns:a="http://schemas.openxmlformats.org/drawingml/2006/main">
              <a:ext uri="{FF2B5EF4-FFF2-40B4-BE49-F238E27FC236}">
                <a16:creationId xmlns:a16="http://schemas.microsoft.com/office/drawing/2014/main" id="{68DF9E39-E5F7-4F6B-9167-F80E95A70A76}"/>
              </a:ext>
            </a:extLst>
          </p:cNvPr>
          <p:cNvSpPr>
            <a:spLocks xmlns:a="http://schemas.openxmlformats.org/drawingml/2006/main" noGrp="1"/>
          </p:cNvSpPr>
          <p:nvPr/>
        </p:nvSpPr>
        <p:spPr>
          <a:xfrm xmlns:a="http://schemas.openxmlformats.org/drawingml/2006/main">
            <a:off x="1381125" y="4495800"/>
            <a:ext cx="1924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944"/>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workers and family members live on Sylhet tea plantations</a:t>
            </a:r>
          </a:p>
        </p:txBody>
      </p:sp>
      <p:sp>
        <p:nvSpPr>
          <p:cNvPr id="7" name="">
            <a:extLst xmlns:a="http://schemas.openxmlformats.org/drawingml/2006/main">
              <a:ext uri="{FF2B5EF4-FFF2-40B4-BE49-F238E27FC236}">
                <a16:creationId xmlns:a16="http://schemas.microsoft.com/office/drawing/2014/main" id="{17F82323-A263-4AD5-82BF-D429DAF92D34}"/>
              </a:ext>
            </a:extLst>
          </p:cNvPr>
          <p:cNvSpPr>
            <a:spLocks xmlns:a="http://schemas.openxmlformats.org/drawingml/2006/main" noGrp="1"/>
          </p:cNvSpPr>
          <p:nvPr/>
        </p:nvSpPr>
        <p:spPr>
          <a:xfrm xmlns:a="http://schemas.openxmlformats.org/drawingml/2006/main">
            <a:off x="4095750" y="3619500"/>
            <a:ext cx="2381250" cy="14668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63DF11-ACE5-4980-89A4-FA214CD0146D}"/>
              </a:ext>
            </a:extLst>
          </p:cNvPr>
          <p:cNvSpPr>
            <a:spLocks xmlns:a="http://schemas.openxmlformats.org/drawingml/2006/main" noGrp="1"/>
          </p:cNvSpPr>
          <p:nvPr/>
        </p:nvSpPr>
        <p:spPr>
          <a:xfrm xmlns:a="http://schemas.openxmlformats.org/drawingml/2006/main">
            <a:off x="4324350" y="3867150"/>
            <a:ext cx="1924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333"/>
          </a:bodyPr>
          <a:lstStyle xmlns:a="http://schemas.openxmlformats.org/drawingml/2006/main"/>
          <a:p xmlns:a="http://schemas.openxmlformats.org/drawingml/2006/main">
            <a:pPr algn="l">
              <a:defRPr sz="3000" b="1">
                <a:solidFill>
                  <a:srgbClr val="2B8A67"/>
                </a:solidFill>
                <a:latin typeface="Helvetica Neue"/>
                <a:ea typeface="Helvetica Neue"/>
                <a:cs typeface="Helvetica Neue"/>
              </a:defRPr>
            </a:pPr>
            <a:r>
              <a:rPr sz="3000" b="1">
                <a:solidFill>
                  <a:srgbClr val="2B8A67"/>
                </a:solidFill>
                <a:latin typeface="Helvetica Neue"/>
                <a:ea typeface="Helvetica Neue"/>
                <a:cs typeface="Helvetica Neue"/>
              </a:rPr>
              <a:t>2/3</a:t>
            </a:r>
          </a:p>
        </p:txBody>
      </p:sp>
      <p:sp>
        <p:nvSpPr>
          <p:cNvPr id="9" name="">
            <a:extLst xmlns:a="http://schemas.openxmlformats.org/drawingml/2006/main">
              <a:ext uri="{FF2B5EF4-FFF2-40B4-BE49-F238E27FC236}">
                <a16:creationId xmlns:a16="http://schemas.microsoft.com/office/drawing/2014/main" id="{786CBFDE-14EE-4A1F-A180-09907EACF030}"/>
              </a:ext>
            </a:extLst>
          </p:cNvPr>
          <p:cNvSpPr>
            <a:spLocks xmlns:a="http://schemas.openxmlformats.org/drawingml/2006/main" noGrp="1"/>
          </p:cNvSpPr>
          <p:nvPr/>
        </p:nvSpPr>
        <p:spPr>
          <a:xfrm xmlns:a="http://schemas.openxmlformats.org/drawingml/2006/main">
            <a:off x="4324350" y="4495800"/>
            <a:ext cx="1924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430"/>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women and girls make up much of the tea-garden workforce</a:t>
            </a:r>
          </a:p>
        </p:txBody>
      </p:sp>
      <p:sp>
        <p:nvSpPr>
          <p:cNvPr id="10" name="">
            <a:extLst xmlns:a="http://schemas.openxmlformats.org/drawingml/2006/main">
              <a:ext uri="{FF2B5EF4-FFF2-40B4-BE49-F238E27FC236}">
                <a16:creationId xmlns:a16="http://schemas.microsoft.com/office/drawing/2014/main" id="{55055246-40B1-4F8F-8880-271E63301CD3}"/>
              </a:ext>
            </a:extLst>
          </p:cNvPr>
          <p:cNvSpPr>
            <a:spLocks xmlns:a="http://schemas.openxmlformats.org/drawingml/2006/main" noGrp="1"/>
          </p:cNvSpPr>
          <p:nvPr/>
        </p:nvSpPr>
        <p:spPr>
          <a:xfrm xmlns:a="http://schemas.openxmlformats.org/drawingml/2006/main">
            <a:off x="7038975" y="3619500"/>
            <a:ext cx="2381250" cy="14668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352AE3-9B3F-4F10-A1E9-8D602A4FB994}"/>
              </a:ext>
            </a:extLst>
          </p:cNvPr>
          <p:cNvSpPr>
            <a:spLocks xmlns:a="http://schemas.openxmlformats.org/drawingml/2006/main" noGrp="1"/>
          </p:cNvSpPr>
          <p:nvPr/>
        </p:nvSpPr>
        <p:spPr>
          <a:xfrm xmlns:a="http://schemas.openxmlformats.org/drawingml/2006/main">
            <a:off x="7267575" y="3867150"/>
            <a:ext cx="1924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333"/>
          </a:bodyPr>
          <a:lstStyle xmlns:a="http://schemas.openxmlformats.org/drawingml/2006/main"/>
          <a:p xmlns:a="http://schemas.openxmlformats.org/drawingml/2006/main">
            <a:pPr algn="l">
              <a:defRPr sz="3000" b="1">
                <a:solidFill>
                  <a:srgbClr val="D85C5C"/>
                </a:solidFill>
                <a:latin typeface="Helvetica Neue"/>
                <a:ea typeface="Helvetica Neue"/>
                <a:cs typeface="Helvetica Neue"/>
              </a:defRPr>
            </a:pPr>
            <a:r>
              <a:rPr sz="3000" b="1">
                <a:solidFill>
                  <a:srgbClr val="D85C5C"/>
                </a:solidFill>
                <a:latin typeface="Helvetica Neue"/>
                <a:ea typeface="Helvetica Neue"/>
                <a:cs typeface="Helvetica Neue"/>
              </a:rPr>
              <a:t>187</a:t>
            </a:r>
          </a:p>
        </p:txBody>
      </p:sp>
      <p:sp>
        <p:nvSpPr>
          <p:cNvPr id="12" name="">
            <a:extLst xmlns:a="http://schemas.openxmlformats.org/drawingml/2006/main">
              <a:ext uri="{FF2B5EF4-FFF2-40B4-BE49-F238E27FC236}">
                <a16:creationId xmlns:a16="http://schemas.microsoft.com/office/drawing/2014/main" id="{748D467A-B961-4CC7-BDA7-2FB8587898FE}"/>
              </a:ext>
            </a:extLst>
          </p:cNvPr>
          <p:cNvSpPr>
            <a:spLocks xmlns:a="http://schemas.openxmlformats.org/drawingml/2006/main" noGrp="1"/>
          </p:cNvSpPr>
          <p:nvPr/>
        </p:nvSpPr>
        <p:spPr>
          <a:xfrm xmlns:a="http://schemas.openxmlformats.org/drawingml/2006/main">
            <a:off x="7267575" y="4495800"/>
            <a:ext cx="1924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944"/>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BDT daily wage reported in the review context</a:t>
            </a:r>
          </a:p>
        </p:txBody>
      </p:sp>
      <p:sp>
        <p:nvSpPr>
          <p:cNvPr id="13" name="">
            <a:extLst xmlns:a="http://schemas.openxmlformats.org/drawingml/2006/main">
              <a:ext uri="{FF2B5EF4-FFF2-40B4-BE49-F238E27FC236}">
                <a16:creationId xmlns:a16="http://schemas.microsoft.com/office/drawing/2014/main" id="{5B73E335-2BCB-4862-8FD8-4C8E9E3C7140}"/>
              </a:ext>
            </a:extLst>
          </p:cNvPr>
          <p:cNvSpPr>
            <a:spLocks xmlns:a="http://schemas.openxmlformats.org/drawingml/2006/main" noGrp="1"/>
          </p:cNvSpPr>
          <p:nvPr/>
        </p:nvSpPr>
        <p:spPr>
          <a:xfrm xmlns:a="http://schemas.openxmlformats.org/drawingml/2006/main">
            <a:off x="9982200" y="3619500"/>
            <a:ext cx="2381250" cy="14668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AD0AB7-549A-42D1-BFFE-279BF024902B}"/>
              </a:ext>
            </a:extLst>
          </p:cNvPr>
          <p:cNvSpPr>
            <a:spLocks xmlns:a="http://schemas.openxmlformats.org/drawingml/2006/main" noGrp="1"/>
          </p:cNvSpPr>
          <p:nvPr/>
        </p:nvSpPr>
        <p:spPr>
          <a:xfrm xmlns:a="http://schemas.openxmlformats.org/drawingml/2006/main">
            <a:off x="10210800" y="3867150"/>
            <a:ext cx="1924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333"/>
          </a:bodyPr>
          <a:lstStyle xmlns:a="http://schemas.openxmlformats.org/drawingml/2006/main"/>
          <a:p xmlns:a="http://schemas.openxmlformats.org/drawingml/2006/main">
            <a:pPr algn="l">
              <a:defRPr sz="3000" b="1">
                <a:solidFill>
                  <a:srgbClr val="3D8DFF"/>
                </a:solidFill>
                <a:latin typeface="Helvetica Neue"/>
                <a:ea typeface="Helvetica Neue"/>
                <a:cs typeface="Helvetica Neue"/>
              </a:defRPr>
            </a:pPr>
            <a:r>
              <a:rPr sz="3000" b="1">
                <a:solidFill>
                  <a:srgbClr val="3D8DFF"/>
                </a:solidFill>
                <a:latin typeface="Helvetica Neue"/>
                <a:ea typeface="Helvetica Neue"/>
                <a:cs typeface="Helvetica Neue"/>
              </a:rPr>
              <a:t>180m+</a:t>
            </a:r>
          </a:p>
        </p:txBody>
      </p:sp>
      <p:sp>
        <p:nvSpPr>
          <p:cNvPr id="15" name="">
            <a:extLst xmlns:a="http://schemas.openxmlformats.org/drawingml/2006/main">
              <a:ext uri="{FF2B5EF4-FFF2-40B4-BE49-F238E27FC236}">
                <a16:creationId xmlns:a16="http://schemas.microsoft.com/office/drawing/2014/main" id="{F4FA29D5-40AF-4ECA-BC0C-6BB9016ED787}"/>
              </a:ext>
            </a:extLst>
          </p:cNvPr>
          <p:cNvSpPr>
            <a:spLocks xmlns:a="http://schemas.openxmlformats.org/drawingml/2006/main" noGrp="1"/>
          </p:cNvSpPr>
          <p:nvPr/>
        </p:nvSpPr>
        <p:spPr>
          <a:xfrm xmlns:a="http://schemas.openxmlformats.org/drawingml/2006/main">
            <a:off x="10210800" y="4495800"/>
            <a:ext cx="1924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4536"/>
          </a:bodyPr>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active mobile subscriptions create a possible delivery channel</a:t>
            </a:r>
          </a:p>
        </p:txBody>
      </p:sp>
      <p:sp>
        <p:nvSpPr>
          <p:cNvPr id="16" name="">
            <a:extLst xmlns:a="http://schemas.openxmlformats.org/drawingml/2006/main">
              <a:ext uri="{FF2B5EF4-FFF2-40B4-BE49-F238E27FC236}">
                <a16:creationId xmlns:a16="http://schemas.microsoft.com/office/drawing/2014/main" id="{718FC0ED-8076-4BB3-B49C-6B37342D35F9}"/>
              </a:ext>
            </a:extLst>
          </p:cNvPr>
          <p:cNvSpPr>
            <a:spLocks xmlns:a="http://schemas.openxmlformats.org/drawingml/2006/main" noGrp="1"/>
          </p:cNvSpPr>
          <p:nvPr/>
        </p:nvSpPr>
        <p:spPr>
          <a:xfrm xmlns:a="http://schemas.openxmlformats.org/drawingml/2006/main">
            <a:off x="1152525" y="6324600"/>
            <a:ext cx="11401425"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7D8CF9CA-C2D1-43B6-B1AD-1427E49B9754}"/>
              </a:ext>
            </a:extLst>
          </p:cNvPr>
          <p:cNvSpPr>
            <a:spLocks xmlns:a="http://schemas.openxmlformats.org/drawingml/2006/main" noGrp="1"/>
          </p:cNvSpPr>
          <p:nvPr/>
        </p:nvSpPr>
        <p:spPr>
          <a:xfrm xmlns:a="http://schemas.openxmlformats.org/drawingml/2006/main">
            <a:off x="1152525" y="6572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77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Design implication: awareness support must work around low literacy, shared devices, language diversity, and weak infrastructure.</a:t>
            </a:r>
          </a:p>
        </p:txBody>
      </p:sp>
    </p:spTree>
    <p:extLst>
      <p:ext uri="{BB962C8B-B14F-4D97-AF65-F5344CB8AC3E}">
        <p14:creationId xmlns:p14="http://schemas.microsoft.com/office/powerpoint/2010/main" val="1026829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0587D37-D3F7-4D12-9839-61CE4261BA02}"/>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The review narrowed 158 records to 45 papers</a:t>
            </a:r>
          </a:p>
        </p:txBody>
      </p:sp>
      <p:sp>
        <p:nvSpPr>
          <p:cNvPr id="2" name="">
            <a:extLst xmlns:a="http://schemas.openxmlformats.org/drawingml/2006/main">
              <a:ext uri="{FF2B5EF4-FFF2-40B4-BE49-F238E27FC236}">
                <a16:creationId xmlns:a16="http://schemas.microsoft.com/office/drawing/2014/main" id="{2954839E-607A-49FD-A267-19C002EAD666}"/>
              </a:ext>
            </a:extLst>
          </p:cNvPr>
          <p:cNvSpPr>
            <a:spLocks xmlns:a="http://schemas.openxmlformats.org/drawingml/2006/main" noGrp="1"/>
          </p:cNvSpPr>
          <p:nvPr/>
        </p:nvSpPr>
        <p:spPr>
          <a:xfrm xmlns:a="http://schemas.openxmlformats.org/drawingml/2006/main">
            <a:off x="1152525" y="19240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5D6470"/>
                </a:solidFill>
                <a:latin typeface="Helvetica Neue"/>
                <a:ea typeface="Helvetica Neue"/>
                <a:cs typeface="Helvetica Neue"/>
              </a:defRPr>
            </a:pPr>
            <a:r>
              <a:rPr sz="1575" b="0">
                <a:solidFill>
                  <a:srgbClr val="5D6470"/>
                </a:solidFill>
                <a:latin typeface="Helvetica Neue"/>
                <a:ea typeface="Helvetica Neue"/>
                <a:cs typeface="Helvetica Neue"/>
              </a:rPr>
              <a:t>Modified PRISMA process, searches from November 2024 to January 2025.</a:t>
            </a:r>
          </a:p>
        </p:txBody>
      </p:sp>
      <p:sp>
        <p:nvSpPr>
          <p:cNvPr id="3" name="">
            <a:extLst xmlns:a="http://schemas.openxmlformats.org/drawingml/2006/main">
              <a:ext uri="{FF2B5EF4-FFF2-40B4-BE49-F238E27FC236}">
                <a16:creationId xmlns:a16="http://schemas.microsoft.com/office/drawing/2014/main" id="{BE5A0D61-AF58-4968-AE32-3E1CFA43AF93}"/>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67D5E74D-846E-4C86-AFF4-B72982E4A038}"/>
              </a:ext>
            </a:extLst>
          </p:cNvPr>
          <p:cNvSpPr>
            <a:spLocks xmlns:a="http://schemas.openxmlformats.org/drawingml/2006/main" noGrp="1"/>
          </p:cNvSpPr>
          <p:nvPr/>
        </p:nvSpPr>
        <p:spPr>
          <a:xfrm xmlns:a="http://schemas.openxmlformats.org/drawingml/2006/main">
            <a:off x="1762125" y="4524375"/>
            <a:ext cx="990600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5" name="">
            <a:extLst xmlns:a="http://schemas.openxmlformats.org/drawingml/2006/main">
              <a:ext uri="{FF2B5EF4-FFF2-40B4-BE49-F238E27FC236}">
                <a16:creationId xmlns:a16="http://schemas.microsoft.com/office/drawing/2014/main" id="{CB3ECFC9-A69A-4721-9373-41947F31C879}"/>
              </a:ext>
            </a:extLst>
          </p:cNvPr>
          <p:cNvSpPr>
            <a:spLocks xmlns:a="http://schemas.openxmlformats.org/drawingml/2006/main" noGrp="1"/>
          </p:cNvSpPr>
          <p:nvPr/>
        </p:nvSpPr>
        <p:spPr>
          <a:xfrm xmlns:a="http://schemas.openxmlformats.org/drawingml/2006/main">
            <a:off x="1447800" y="2952750"/>
            <a:ext cx="2000250" cy="2000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E2078F-6958-4696-AE4D-AD726AA17CBC}"/>
              </a:ext>
            </a:extLst>
          </p:cNvPr>
          <p:cNvSpPr>
            <a:spLocks xmlns:a="http://schemas.openxmlformats.org/drawingml/2006/main" noGrp="1"/>
          </p:cNvSpPr>
          <p:nvPr/>
        </p:nvSpPr>
        <p:spPr>
          <a:xfrm xmlns:a="http://schemas.openxmlformats.org/drawingml/2006/main">
            <a:off x="1714500" y="3257550"/>
            <a:ext cx="1466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074"/>
          </a:bodyPr>
          <a:lstStyle xmlns:a="http://schemas.openxmlformats.org/drawingml/2006/main"/>
          <a:p xmlns:a="http://schemas.openxmlformats.org/drawingml/2006/main">
            <a:pPr algn="ctr">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158</a:t>
            </a:r>
          </a:p>
        </p:txBody>
      </p:sp>
      <p:sp>
        <p:nvSpPr>
          <p:cNvPr id="7" name="">
            <a:extLst xmlns:a="http://schemas.openxmlformats.org/drawingml/2006/main">
              <a:ext uri="{FF2B5EF4-FFF2-40B4-BE49-F238E27FC236}">
                <a16:creationId xmlns:a16="http://schemas.microsoft.com/office/drawing/2014/main" id="{64204F99-C48F-4D53-BF3E-DEB133CBF57B}"/>
              </a:ext>
            </a:extLst>
          </p:cNvPr>
          <p:cNvSpPr>
            <a:spLocks xmlns:a="http://schemas.openxmlformats.org/drawingml/2006/main" noGrp="1"/>
          </p:cNvSpPr>
          <p:nvPr/>
        </p:nvSpPr>
        <p:spPr>
          <a:xfrm xmlns:a="http://schemas.openxmlformats.org/drawingml/2006/main">
            <a:off x="1657350" y="3914775"/>
            <a:ext cx="1581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initial records</a:t>
            </a:r>
          </a:p>
        </p:txBody>
      </p:sp>
      <p:sp>
        <p:nvSpPr>
          <p:cNvPr id="8" name="">
            <a:extLst xmlns:a="http://schemas.openxmlformats.org/drawingml/2006/main">
              <a:ext uri="{FF2B5EF4-FFF2-40B4-BE49-F238E27FC236}">
                <a16:creationId xmlns:a16="http://schemas.microsoft.com/office/drawing/2014/main" id="{CAD6917D-9F36-4C37-963D-27C45065DDC7}"/>
              </a:ext>
            </a:extLst>
          </p:cNvPr>
          <p:cNvSpPr>
            <a:spLocks xmlns:a="http://schemas.openxmlformats.org/drawingml/2006/main" noGrp="1"/>
          </p:cNvSpPr>
          <p:nvPr/>
        </p:nvSpPr>
        <p:spPr>
          <a:xfrm xmlns:a="http://schemas.openxmlformats.org/drawingml/2006/main">
            <a:off x="1657350" y="44291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five database searches</a:t>
            </a:r>
          </a:p>
        </p:txBody>
      </p:sp>
      <p:sp>
        <p:nvSpPr>
          <p:cNvPr id="9" name="">
            <a:extLst xmlns:a="http://schemas.openxmlformats.org/drawingml/2006/main">
              <a:ext uri="{FF2B5EF4-FFF2-40B4-BE49-F238E27FC236}">
                <a16:creationId xmlns:a16="http://schemas.microsoft.com/office/drawing/2014/main" id="{57045CFE-E885-419A-9E23-3040EF114ED9}"/>
              </a:ext>
            </a:extLst>
          </p:cNvPr>
          <p:cNvSpPr>
            <a:spLocks xmlns:a="http://schemas.openxmlformats.org/drawingml/2006/main" noGrp="1"/>
          </p:cNvSpPr>
          <p:nvPr/>
        </p:nvSpPr>
        <p:spPr>
          <a:xfrm xmlns:a="http://schemas.openxmlformats.org/drawingml/2006/main">
            <a:off x="4333875" y="2952750"/>
            <a:ext cx="2000250" cy="2000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8265EC-9467-44E4-A1F4-0D2C38BCB7D6}"/>
              </a:ext>
            </a:extLst>
          </p:cNvPr>
          <p:cNvSpPr>
            <a:spLocks xmlns:a="http://schemas.openxmlformats.org/drawingml/2006/main" noGrp="1"/>
          </p:cNvSpPr>
          <p:nvPr/>
        </p:nvSpPr>
        <p:spPr>
          <a:xfrm xmlns:a="http://schemas.openxmlformats.org/drawingml/2006/main">
            <a:off x="4600575" y="3257550"/>
            <a:ext cx="1466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074"/>
          </a:bodyPr>
          <a:lstStyle xmlns:a="http://schemas.openxmlformats.org/drawingml/2006/main"/>
          <a:p xmlns:a="http://schemas.openxmlformats.org/drawingml/2006/main">
            <a:pPr algn="ctr">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82</a:t>
            </a:r>
          </a:p>
        </p:txBody>
      </p:sp>
      <p:sp>
        <p:nvSpPr>
          <p:cNvPr id="11" name="">
            <a:extLst xmlns:a="http://schemas.openxmlformats.org/drawingml/2006/main">
              <a:ext uri="{FF2B5EF4-FFF2-40B4-BE49-F238E27FC236}">
                <a16:creationId xmlns:a16="http://schemas.microsoft.com/office/drawing/2014/main" id="{357A3428-2FB5-47FC-B5A5-7C36C63CA7D0}"/>
              </a:ext>
            </a:extLst>
          </p:cNvPr>
          <p:cNvSpPr>
            <a:spLocks xmlns:a="http://schemas.openxmlformats.org/drawingml/2006/main" noGrp="1"/>
          </p:cNvSpPr>
          <p:nvPr/>
        </p:nvSpPr>
        <p:spPr>
          <a:xfrm xmlns:a="http://schemas.openxmlformats.org/drawingml/2006/main">
            <a:off x="4543425" y="3914775"/>
            <a:ext cx="1581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426"/>
          </a:bodyPr>
          <a:lstStyle xmlns:a="http://schemas.openxmlformats.org/drawingml/2006/main"/>
          <a:p xmlns:a="http://schemas.openxmlformats.org/drawingml/2006/main">
            <a:pPr algn="ctr">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after title screening</a:t>
            </a:r>
          </a:p>
        </p:txBody>
      </p:sp>
      <p:sp>
        <p:nvSpPr>
          <p:cNvPr id="12" name="">
            <a:extLst xmlns:a="http://schemas.openxmlformats.org/drawingml/2006/main">
              <a:ext uri="{FF2B5EF4-FFF2-40B4-BE49-F238E27FC236}">
                <a16:creationId xmlns:a16="http://schemas.microsoft.com/office/drawing/2014/main" id="{CBD75FF8-727C-4E68-B35B-45D6F1DA93DC}"/>
              </a:ext>
            </a:extLst>
          </p:cNvPr>
          <p:cNvSpPr>
            <a:spLocks xmlns:a="http://schemas.openxmlformats.org/drawingml/2006/main" noGrp="1"/>
          </p:cNvSpPr>
          <p:nvPr/>
        </p:nvSpPr>
        <p:spPr>
          <a:xfrm xmlns:a="http://schemas.openxmlformats.org/drawingml/2006/main">
            <a:off x="4543425" y="44291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709"/>
          </a:bodyPr>
          <a:lstStyle xmlns:a="http://schemas.openxmlformats.org/drawingml/2006/main"/>
          <a:p xmlns:a="http://schemas.openxmlformats.org/drawingml/2006/main">
            <a:pPr algn="ctr">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off-topic papers removed</a:t>
            </a:r>
          </a:p>
        </p:txBody>
      </p:sp>
      <p:sp>
        <p:nvSpPr>
          <p:cNvPr id="13" name="">
            <a:extLst xmlns:a="http://schemas.openxmlformats.org/drawingml/2006/main">
              <a:ext uri="{FF2B5EF4-FFF2-40B4-BE49-F238E27FC236}">
                <a16:creationId xmlns:a16="http://schemas.microsoft.com/office/drawing/2014/main" id="{0368AB7C-AE2F-444C-B4CD-74CFAB95BA6D}"/>
              </a:ext>
            </a:extLst>
          </p:cNvPr>
          <p:cNvSpPr>
            <a:spLocks xmlns:a="http://schemas.openxmlformats.org/drawingml/2006/main" noGrp="1"/>
          </p:cNvSpPr>
          <p:nvPr/>
        </p:nvSpPr>
        <p:spPr>
          <a:xfrm xmlns:a="http://schemas.openxmlformats.org/drawingml/2006/main">
            <a:off x="7219950" y="2952750"/>
            <a:ext cx="2000250" cy="20002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D41712-8123-42FA-A360-EA3ACB05361C}"/>
              </a:ext>
            </a:extLst>
          </p:cNvPr>
          <p:cNvSpPr>
            <a:spLocks xmlns:a="http://schemas.openxmlformats.org/drawingml/2006/main" noGrp="1"/>
          </p:cNvSpPr>
          <p:nvPr/>
        </p:nvSpPr>
        <p:spPr>
          <a:xfrm xmlns:a="http://schemas.openxmlformats.org/drawingml/2006/main">
            <a:off x="7486650" y="3257550"/>
            <a:ext cx="1466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074"/>
          </a:bodyPr>
          <a:lstStyle xmlns:a="http://schemas.openxmlformats.org/drawingml/2006/main"/>
          <a:p xmlns:a="http://schemas.openxmlformats.org/drawingml/2006/main">
            <a:pPr algn="ctr">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45</a:t>
            </a:r>
          </a:p>
        </p:txBody>
      </p:sp>
      <p:sp>
        <p:nvSpPr>
          <p:cNvPr id="15" name="">
            <a:extLst xmlns:a="http://schemas.openxmlformats.org/drawingml/2006/main">
              <a:ext uri="{FF2B5EF4-FFF2-40B4-BE49-F238E27FC236}">
                <a16:creationId xmlns:a16="http://schemas.microsoft.com/office/drawing/2014/main" id="{C664CBC3-A112-4F16-A419-7C8F394E6605}"/>
              </a:ext>
            </a:extLst>
          </p:cNvPr>
          <p:cNvSpPr>
            <a:spLocks xmlns:a="http://schemas.openxmlformats.org/drawingml/2006/main" noGrp="1"/>
          </p:cNvSpPr>
          <p:nvPr/>
        </p:nvSpPr>
        <p:spPr>
          <a:xfrm xmlns:a="http://schemas.openxmlformats.org/drawingml/2006/main">
            <a:off x="7429500" y="3914775"/>
            <a:ext cx="1581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393"/>
          </a:bodyPr>
          <a:lstStyle xmlns:a="http://schemas.openxmlformats.org/drawingml/2006/main"/>
          <a:p xmlns:a="http://schemas.openxmlformats.org/drawingml/2006/main">
            <a:pPr algn="ctr">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after abstract review</a:t>
            </a:r>
          </a:p>
        </p:txBody>
      </p:sp>
      <p:sp>
        <p:nvSpPr>
          <p:cNvPr id="16" name="">
            <a:extLst xmlns:a="http://schemas.openxmlformats.org/drawingml/2006/main">
              <a:ext uri="{FF2B5EF4-FFF2-40B4-BE49-F238E27FC236}">
                <a16:creationId xmlns:a16="http://schemas.microsoft.com/office/drawing/2014/main" id="{BB5F2F2C-993F-427A-B949-235064C9ACE1}"/>
              </a:ext>
            </a:extLst>
          </p:cNvPr>
          <p:cNvSpPr>
            <a:spLocks xmlns:a="http://schemas.openxmlformats.org/drawingml/2006/main" noGrp="1"/>
          </p:cNvSpPr>
          <p:nvPr/>
        </p:nvSpPr>
        <p:spPr>
          <a:xfrm xmlns:a="http://schemas.openxmlformats.org/drawingml/2006/main">
            <a:off x="7429500" y="44291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375"/>
          </a:bodyPr>
          <a:lstStyle xmlns:a="http://schemas.openxmlformats.org/drawingml/2006/main"/>
          <a:p xmlns:a="http://schemas.openxmlformats.org/drawingml/2006/main">
            <a:pPr algn="ctr">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abstracts and conclusions assessed</a:t>
            </a:r>
          </a:p>
        </p:txBody>
      </p:sp>
      <p:sp>
        <p:nvSpPr>
          <p:cNvPr id="17" name="">
            <a:extLst xmlns:a="http://schemas.openxmlformats.org/drawingml/2006/main">
              <a:ext uri="{FF2B5EF4-FFF2-40B4-BE49-F238E27FC236}">
                <a16:creationId xmlns:a16="http://schemas.microsoft.com/office/drawing/2014/main" id="{F791AF6F-3911-40AC-BF7C-1128B14DC7A2}"/>
              </a:ext>
            </a:extLst>
          </p:cNvPr>
          <p:cNvSpPr>
            <a:spLocks xmlns:a="http://schemas.openxmlformats.org/drawingml/2006/main" noGrp="1"/>
          </p:cNvSpPr>
          <p:nvPr/>
        </p:nvSpPr>
        <p:spPr>
          <a:xfrm xmlns:a="http://schemas.openxmlformats.org/drawingml/2006/main">
            <a:off x="10106025" y="2952750"/>
            <a:ext cx="2000250" cy="200025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9B9D8AF4-A87B-4ADF-A35A-9ABBAB5DC39B}"/>
              </a:ext>
            </a:extLst>
          </p:cNvPr>
          <p:cNvSpPr>
            <a:spLocks xmlns:a="http://schemas.openxmlformats.org/drawingml/2006/main" noGrp="1"/>
          </p:cNvSpPr>
          <p:nvPr/>
        </p:nvSpPr>
        <p:spPr>
          <a:xfrm xmlns:a="http://schemas.openxmlformats.org/drawingml/2006/main">
            <a:off x="10372725" y="3257550"/>
            <a:ext cx="1466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074"/>
          </a:bodyPr>
          <a:lstStyle xmlns:a="http://schemas.openxmlformats.org/drawingml/2006/main"/>
          <a:p xmlns:a="http://schemas.openxmlformats.org/drawingml/2006/main">
            <a:pPr algn="ctr">
              <a:defRPr sz="3375" b="1">
                <a:solidFill>
                  <a:srgbClr val="3D8DFF"/>
                </a:solidFill>
                <a:latin typeface="Helvetica Neue"/>
                <a:ea typeface="Helvetica Neue"/>
                <a:cs typeface="Helvetica Neue"/>
              </a:defRPr>
            </a:pPr>
            <a:r>
              <a:rPr sz="3375" b="1">
                <a:solidFill>
                  <a:srgbClr val="3D8DFF"/>
                </a:solidFill>
                <a:latin typeface="Helvetica Neue"/>
                <a:ea typeface="Helvetica Neue"/>
                <a:cs typeface="Helvetica Neue"/>
              </a:rPr>
              <a:t>45</a:t>
            </a:r>
          </a:p>
        </p:txBody>
      </p:sp>
      <p:sp>
        <p:nvSpPr>
          <p:cNvPr id="19" name="">
            <a:extLst xmlns:a="http://schemas.openxmlformats.org/drawingml/2006/main">
              <a:ext uri="{FF2B5EF4-FFF2-40B4-BE49-F238E27FC236}">
                <a16:creationId xmlns:a16="http://schemas.microsoft.com/office/drawing/2014/main" id="{2A616624-2B29-4E60-9BB4-772332167B3A}"/>
              </a:ext>
            </a:extLst>
          </p:cNvPr>
          <p:cNvSpPr>
            <a:spLocks xmlns:a="http://schemas.openxmlformats.org/drawingml/2006/main" noGrp="1"/>
          </p:cNvSpPr>
          <p:nvPr/>
        </p:nvSpPr>
        <p:spPr>
          <a:xfrm xmlns:a="http://schemas.openxmlformats.org/drawingml/2006/main">
            <a:off x="10315575" y="3914775"/>
            <a:ext cx="1581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602"/>
          </a:bodyPr>
          <a:lstStyle xmlns:a="http://schemas.openxmlformats.org/drawingml/2006/main"/>
          <a:p xmlns:a="http://schemas.openxmlformats.org/drawingml/2006/main">
            <a:pPr algn="ctr">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full-text included</a:t>
            </a:r>
          </a:p>
        </p:txBody>
      </p:sp>
      <p:sp>
        <p:nvSpPr>
          <p:cNvPr id="20" name="">
            <a:extLst xmlns:a="http://schemas.openxmlformats.org/drawingml/2006/main">
              <a:ext uri="{FF2B5EF4-FFF2-40B4-BE49-F238E27FC236}">
                <a16:creationId xmlns:a16="http://schemas.microsoft.com/office/drawing/2014/main" id="{29B449D7-5C13-40D2-9631-90397A776CA4}"/>
              </a:ext>
            </a:extLst>
          </p:cNvPr>
          <p:cNvSpPr>
            <a:spLocks xmlns:a="http://schemas.openxmlformats.org/drawingml/2006/main" noGrp="1"/>
          </p:cNvSpPr>
          <p:nvPr/>
        </p:nvSpPr>
        <p:spPr>
          <a:xfrm xmlns:a="http://schemas.openxmlformats.org/drawingml/2006/main">
            <a:off x="10315575" y="44291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375"/>
          </a:bodyPr>
          <a:lstStyle xmlns:a="http://schemas.openxmlformats.org/drawingml/2006/main"/>
          <a:p xmlns:a="http://schemas.openxmlformats.org/drawingml/2006/main">
            <a:pPr algn="ctr">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quality check and thematic analysis</a:t>
            </a:r>
          </a:p>
        </p:txBody>
      </p:sp>
      <p:sp>
        <p:nvSpPr>
          <p:cNvPr id="21" name="">
            <a:extLst xmlns:a="http://schemas.openxmlformats.org/drawingml/2006/main">
              <a:ext uri="{FF2B5EF4-FFF2-40B4-BE49-F238E27FC236}">
                <a16:creationId xmlns:a16="http://schemas.microsoft.com/office/drawing/2014/main" id="{6519AEF9-3AF9-497D-858D-5249F7C2F18A}"/>
              </a:ext>
            </a:extLst>
          </p:cNvPr>
          <p:cNvSpPr>
            <a:spLocks xmlns:a="http://schemas.openxmlformats.org/drawingml/2006/main" noGrp="1"/>
          </p:cNvSpPr>
          <p:nvPr/>
        </p:nvSpPr>
        <p:spPr>
          <a:xfrm xmlns:a="http://schemas.openxmlformats.org/drawingml/2006/main">
            <a:off x="1447800" y="5905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Sources searched: Google Scholar, IEEE Xplore, ACM Digital Library, PubMed/PMC, and ScienceDirect.</a:t>
            </a:r>
          </a:p>
        </p:txBody>
      </p:sp>
    </p:spTree>
    <p:extLst>
      <p:ext uri="{BB962C8B-B14F-4D97-AF65-F5344CB8AC3E}">
        <p14:creationId xmlns:p14="http://schemas.microsoft.com/office/powerpoint/2010/main" val="4671437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00283B82-2C66-436E-A46B-C339BE074642}"/>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The strongest evidence is for reminders and CHW follow-up</a:t>
            </a:r>
          </a:p>
        </p:txBody>
      </p:sp>
      <p:sp>
        <p:nvSpPr>
          <p:cNvPr id="2" name="">
            <a:extLst xmlns:a="http://schemas.openxmlformats.org/drawingml/2006/main">
              <a:ext uri="{FF2B5EF4-FFF2-40B4-BE49-F238E27FC236}">
                <a16:creationId xmlns:a16="http://schemas.microsoft.com/office/drawing/2014/main" id="{28C03A62-14E8-4B1D-9E6A-1A263539F971}"/>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04</a:t>
            </a:r>
          </a:p>
        </p:txBody>
      </p:sp>
      <p:graphicFrame>
        <p:nvGraphicFramePr>
          <p:cNvPr id="19" name="Chart"/>
          <p:cNvGraphicFramePr/>
          <p:nvPr/>
        </p:nvGraphicFramePr>
        <p:xfrm>
          <a:off xmlns:a="http://schemas.openxmlformats.org/drawingml/2006/main" x="1295400" y="2143125"/>
          <a:ext xmlns:a="http://schemas.openxmlformats.org/drawingml/2006/main" cx="5619750" cy="4095750"/>
        </p:xfrm>
        <a:graphic xmlns:a="http://schemas.openxmlformats.org/drawingml/2006/main">
          <a:graphicData uri="http://schemas.openxmlformats.org/drawingml/2006/chart">
            <c:chart xmlns:r="http://schemas.openxmlformats.org/officeDocument/2006/relationships" xmlns:c="http://schemas.openxmlformats.org/drawingml/2006/chart" r:id="Rec8ba2a877e34938"/>
          </a:graphicData>
        </a:graphic>
      </p:graphicFrame>
      <p:sp>
        <p:nvSpPr>
          <p:cNvPr id="4" name="">
            <a:extLst xmlns:a="http://schemas.openxmlformats.org/drawingml/2006/main">
              <a:ext uri="{FF2B5EF4-FFF2-40B4-BE49-F238E27FC236}">
                <a16:creationId xmlns:a16="http://schemas.microsoft.com/office/drawing/2014/main" id="{6249DF5A-16EF-4F56-BC36-45DD4447B15E}"/>
              </a:ext>
            </a:extLst>
          </p:cNvPr>
          <p:cNvSpPr>
            <a:spLocks xmlns:a="http://schemas.openxmlformats.org/drawingml/2006/main" noGrp="1"/>
          </p:cNvSpPr>
          <p:nvPr/>
        </p:nvSpPr>
        <p:spPr>
          <a:xfrm xmlns:a="http://schemas.openxmlformats.org/drawingml/2006/main">
            <a:off x="7467600" y="2228850"/>
            <a:ext cx="4524375" cy="1143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978D0E-703B-405F-A766-EC8C516AAFC8}"/>
              </a:ext>
            </a:extLst>
          </p:cNvPr>
          <p:cNvSpPr>
            <a:spLocks xmlns:a="http://schemas.openxmlformats.org/drawingml/2006/main" noGrp="1"/>
          </p:cNvSpPr>
          <p:nvPr/>
        </p:nvSpPr>
        <p:spPr>
          <a:xfrm xmlns:a="http://schemas.openxmlformats.org/drawingml/2006/main">
            <a:off x="7467600" y="2228850"/>
            <a:ext cx="66675" cy="11430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1E2D7701-EA49-4A25-8F6A-3DEE68BAAE5F}"/>
              </a:ext>
            </a:extLst>
          </p:cNvPr>
          <p:cNvSpPr>
            <a:spLocks xmlns:a="http://schemas.openxmlformats.org/drawingml/2006/main" noGrp="1"/>
          </p:cNvSpPr>
          <p:nvPr/>
        </p:nvSpPr>
        <p:spPr>
          <a:xfrm xmlns:a="http://schemas.openxmlformats.org/drawingml/2006/main">
            <a:off x="7715250" y="2457450"/>
            <a:ext cx="4029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Mobile reminders</a:t>
            </a:r>
          </a:p>
        </p:txBody>
      </p:sp>
      <p:sp>
        <p:nvSpPr>
          <p:cNvPr id="7" name="">
            <a:extLst xmlns:a="http://schemas.openxmlformats.org/drawingml/2006/main">
              <a:ext uri="{FF2B5EF4-FFF2-40B4-BE49-F238E27FC236}">
                <a16:creationId xmlns:a16="http://schemas.microsoft.com/office/drawing/2014/main" id="{9359FEC4-1D5D-45F7-87A6-37C93C1F1719}"/>
              </a:ext>
            </a:extLst>
          </p:cNvPr>
          <p:cNvSpPr>
            <a:spLocks xmlns:a="http://schemas.openxmlformats.org/drawingml/2006/main" noGrp="1"/>
          </p:cNvSpPr>
          <p:nvPr/>
        </p:nvSpPr>
        <p:spPr>
          <a:xfrm xmlns:a="http://schemas.openxmlformats.org/drawingml/2006/main">
            <a:off x="7715250" y="2962275"/>
            <a:ext cx="40290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3158"/>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Raised ANC attendance in several rural trials and improved vaccination timing.</a:t>
            </a:r>
          </a:p>
        </p:txBody>
      </p:sp>
      <p:sp>
        <p:nvSpPr>
          <p:cNvPr id="8" name="">
            <a:extLst xmlns:a="http://schemas.openxmlformats.org/drawingml/2006/main">
              <a:ext uri="{FF2B5EF4-FFF2-40B4-BE49-F238E27FC236}">
                <a16:creationId xmlns:a16="http://schemas.microsoft.com/office/drawing/2014/main" id="{FF59C875-9708-43BB-BDF1-15811E982E3C}"/>
              </a:ext>
            </a:extLst>
          </p:cNvPr>
          <p:cNvSpPr>
            <a:spLocks xmlns:a="http://schemas.openxmlformats.org/drawingml/2006/main" noGrp="1"/>
          </p:cNvSpPr>
          <p:nvPr/>
        </p:nvSpPr>
        <p:spPr>
          <a:xfrm xmlns:a="http://schemas.openxmlformats.org/drawingml/2006/main">
            <a:off x="7467600" y="3667125"/>
            <a:ext cx="4524375" cy="1143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0468BC-2B93-4C67-B566-3BBD83859F06}"/>
              </a:ext>
            </a:extLst>
          </p:cNvPr>
          <p:cNvSpPr>
            <a:spLocks xmlns:a="http://schemas.openxmlformats.org/drawingml/2006/main" noGrp="1"/>
          </p:cNvSpPr>
          <p:nvPr/>
        </p:nvSpPr>
        <p:spPr>
          <a:xfrm xmlns:a="http://schemas.openxmlformats.org/drawingml/2006/main">
            <a:off x="7467600" y="3667125"/>
            <a:ext cx="66675" cy="1143000"/>
          </a:xfrm>
          <a:prstGeom xmlns:a="http://schemas.openxmlformats.org/drawingml/2006/main" prst="rect">
            <a:avLst/>
          </a:prstGeom>
          <a:solidFill xmlns:a="http://schemas.openxmlformats.org/drawingml/2006/main">
            <a:srgbClr val="2B8A67"/>
          </a:solidFill>
          <a:ln xmlns:a="http://schemas.openxmlformats.org/drawingml/2006/main" w="9525">
            <a:solidFill>
              <a:srgbClr val="2B8A67"/>
            </a:solidFill>
            <a:prstDash val="solid"/>
          </a:ln>
        </p:spPr>
      </p:sp>
      <p:sp>
        <p:nvSpPr>
          <p:cNvPr id="10" name="">
            <a:extLst xmlns:a="http://schemas.openxmlformats.org/drawingml/2006/main">
              <a:ext uri="{FF2B5EF4-FFF2-40B4-BE49-F238E27FC236}">
                <a16:creationId xmlns:a16="http://schemas.microsoft.com/office/drawing/2014/main" id="{6AF50197-E1CA-450F-ADB4-3189F60E7E87}"/>
              </a:ext>
            </a:extLst>
          </p:cNvPr>
          <p:cNvSpPr>
            <a:spLocks xmlns:a="http://schemas.openxmlformats.org/drawingml/2006/main" noGrp="1"/>
          </p:cNvSpPr>
          <p:nvPr/>
        </p:nvSpPr>
        <p:spPr>
          <a:xfrm xmlns:a="http://schemas.openxmlformats.org/drawingml/2006/main">
            <a:off x="7715250" y="3895725"/>
            <a:ext cx="4029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CHW-supported delivery</a:t>
            </a:r>
          </a:p>
        </p:txBody>
      </p:sp>
      <p:sp>
        <p:nvSpPr>
          <p:cNvPr id="11" name="">
            <a:extLst xmlns:a="http://schemas.openxmlformats.org/drawingml/2006/main">
              <a:ext uri="{FF2B5EF4-FFF2-40B4-BE49-F238E27FC236}">
                <a16:creationId xmlns:a16="http://schemas.microsoft.com/office/drawing/2014/main" id="{5C8D669F-E771-4F40-954E-6A0583E078B1}"/>
              </a:ext>
            </a:extLst>
          </p:cNvPr>
          <p:cNvSpPr>
            <a:spLocks xmlns:a="http://schemas.openxmlformats.org/drawingml/2006/main" noGrp="1"/>
          </p:cNvSpPr>
          <p:nvPr/>
        </p:nvSpPr>
        <p:spPr>
          <a:xfrm xmlns:a="http://schemas.openxmlformats.org/drawingml/2006/main">
            <a:off x="7715250" y="4400550"/>
            <a:ext cx="40290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3158"/>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Local health workers make messages credible, understandable, and actionable.</a:t>
            </a:r>
          </a:p>
        </p:txBody>
      </p:sp>
      <p:sp>
        <p:nvSpPr>
          <p:cNvPr id="12" name="">
            <a:extLst xmlns:a="http://schemas.openxmlformats.org/drawingml/2006/main">
              <a:ext uri="{FF2B5EF4-FFF2-40B4-BE49-F238E27FC236}">
                <a16:creationId xmlns:a16="http://schemas.microsoft.com/office/drawing/2014/main" id="{BD783D93-031C-411C-8177-E1E1511A5D8F}"/>
              </a:ext>
            </a:extLst>
          </p:cNvPr>
          <p:cNvSpPr>
            <a:spLocks xmlns:a="http://schemas.openxmlformats.org/drawingml/2006/main" noGrp="1"/>
          </p:cNvSpPr>
          <p:nvPr/>
        </p:nvSpPr>
        <p:spPr>
          <a:xfrm xmlns:a="http://schemas.openxmlformats.org/drawingml/2006/main">
            <a:off x="7467600" y="5105400"/>
            <a:ext cx="4524375" cy="1143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EA86AF-7530-4F8D-93F6-8DA80EAC2722}"/>
              </a:ext>
            </a:extLst>
          </p:cNvPr>
          <p:cNvSpPr>
            <a:spLocks xmlns:a="http://schemas.openxmlformats.org/drawingml/2006/main" noGrp="1"/>
          </p:cNvSpPr>
          <p:nvPr/>
        </p:nvSpPr>
        <p:spPr>
          <a:xfrm xmlns:a="http://schemas.openxmlformats.org/drawingml/2006/main">
            <a:off x="7467600" y="5105400"/>
            <a:ext cx="66675" cy="1143000"/>
          </a:xfrm>
          <a:prstGeom xmlns:a="http://schemas.openxmlformats.org/drawingml/2006/main" prst="rect">
            <a:avLst/>
          </a:prstGeom>
          <a:solidFill xmlns:a="http://schemas.openxmlformats.org/drawingml/2006/main">
            <a:srgbClr val="D85C5C"/>
          </a:solidFill>
          <a:ln xmlns:a="http://schemas.openxmlformats.org/drawingml/2006/main" w="9525">
            <a:solidFill>
              <a:srgbClr val="D85C5C"/>
            </a:solidFill>
            <a:prstDash val="solid"/>
          </a:ln>
        </p:spPr>
      </p:sp>
      <p:sp>
        <p:nvSpPr>
          <p:cNvPr id="14" name="">
            <a:extLst xmlns:a="http://schemas.openxmlformats.org/drawingml/2006/main">
              <a:ext uri="{FF2B5EF4-FFF2-40B4-BE49-F238E27FC236}">
                <a16:creationId xmlns:a16="http://schemas.microsoft.com/office/drawing/2014/main" id="{4D2081C0-16E4-490D-A2A2-A2BE2D205E98}"/>
              </a:ext>
            </a:extLst>
          </p:cNvPr>
          <p:cNvSpPr>
            <a:spLocks xmlns:a="http://schemas.openxmlformats.org/drawingml/2006/main" noGrp="1"/>
          </p:cNvSpPr>
          <p:nvPr/>
        </p:nvSpPr>
        <p:spPr>
          <a:xfrm xmlns:a="http://schemas.openxmlformats.org/drawingml/2006/main">
            <a:off x="7715250" y="5334000"/>
            <a:ext cx="4029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Low-literacy HCI</a:t>
            </a:r>
          </a:p>
        </p:txBody>
      </p:sp>
      <p:sp>
        <p:nvSpPr>
          <p:cNvPr id="15" name="">
            <a:extLst xmlns:a="http://schemas.openxmlformats.org/drawingml/2006/main">
              <a:ext uri="{FF2B5EF4-FFF2-40B4-BE49-F238E27FC236}">
                <a16:creationId xmlns:a16="http://schemas.microsoft.com/office/drawing/2014/main" id="{83CA0EB7-1C17-4DFC-9797-DECD2DA2413C}"/>
              </a:ext>
            </a:extLst>
          </p:cNvPr>
          <p:cNvSpPr>
            <a:spLocks xmlns:a="http://schemas.openxmlformats.org/drawingml/2006/main" noGrp="1"/>
          </p:cNvSpPr>
          <p:nvPr/>
        </p:nvSpPr>
        <p:spPr>
          <a:xfrm xmlns:a="http://schemas.openxmlformats.org/drawingml/2006/main">
            <a:off x="7715250" y="5838825"/>
            <a:ext cx="40290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0739"/>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Pictures and voice outperform text-heavy interfaces for first-time or non-literate users.</a:t>
            </a:r>
          </a:p>
        </p:txBody>
      </p:sp>
      <p:sp>
        <p:nvSpPr>
          <p:cNvPr id="16" name="">
            <a:extLst xmlns:a="http://schemas.openxmlformats.org/drawingml/2006/main">
              <a:ext uri="{FF2B5EF4-FFF2-40B4-BE49-F238E27FC236}">
                <a16:creationId xmlns:a16="http://schemas.microsoft.com/office/drawing/2014/main" id="{4A82D223-B07B-421A-A7A7-D9B19054A003}"/>
              </a:ext>
            </a:extLst>
          </p:cNvPr>
          <p:cNvSpPr>
            <a:spLocks xmlns:a="http://schemas.openxmlformats.org/drawingml/2006/main" noGrp="1"/>
          </p:cNvSpPr>
          <p:nvPr/>
        </p:nvSpPr>
        <p:spPr>
          <a:xfrm xmlns:a="http://schemas.openxmlformats.org/drawingml/2006/main">
            <a:off x="1295400" y="657225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Note: chart values use different units; it visualizes relative evidence strength, not one pooled effect size.</a:t>
            </a:r>
          </a:p>
        </p:txBody>
      </p:sp>
    </p:spTree>
    <p:extLst>
      <p:ext uri="{BB962C8B-B14F-4D97-AF65-F5344CB8AC3E}">
        <p14:creationId xmlns:p14="http://schemas.microsoft.com/office/powerpoint/2010/main" val="1173595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FE36DB03-2E2F-4FE0-A63A-E222D7E4770B}"/>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CHWs are the delivery layer that makes mHealth usable</a:t>
            </a:r>
          </a:p>
        </p:txBody>
      </p:sp>
      <p:sp>
        <p:nvSpPr>
          <p:cNvPr id="2" name="">
            <a:extLst xmlns:a="http://schemas.openxmlformats.org/drawingml/2006/main">
              <a:ext uri="{FF2B5EF4-FFF2-40B4-BE49-F238E27FC236}">
                <a16:creationId xmlns:a16="http://schemas.microsoft.com/office/drawing/2014/main" id="{3B2DAB19-79F3-4F44-B928-6EA5194ADE17}"/>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483E5D8-25A9-474D-A6DE-37A2E8C80ABF}"/>
              </a:ext>
            </a:extLst>
          </p:cNvPr>
          <p:cNvSpPr>
            <a:spLocks xmlns:a="http://schemas.openxmlformats.org/drawingml/2006/main" noGrp="1"/>
          </p:cNvSpPr>
          <p:nvPr/>
        </p:nvSpPr>
        <p:spPr>
          <a:xfrm xmlns:a="http://schemas.openxmlformats.org/drawingml/2006/main">
            <a:off x="1447800" y="2524125"/>
            <a:ext cx="3143250" cy="2667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01535B-4619-44CE-923D-D488A6603761}"/>
              </a:ext>
            </a:extLst>
          </p:cNvPr>
          <p:cNvSpPr>
            <a:spLocks xmlns:a="http://schemas.openxmlformats.org/drawingml/2006/main" noGrp="1"/>
          </p:cNvSpPr>
          <p:nvPr/>
        </p:nvSpPr>
        <p:spPr>
          <a:xfrm xmlns:a="http://schemas.openxmlformats.org/drawingml/2006/main">
            <a:off x="1447800" y="2524125"/>
            <a:ext cx="66675" cy="26670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379CCCDB-A712-4521-91DF-7387B6457B40}"/>
              </a:ext>
            </a:extLst>
          </p:cNvPr>
          <p:cNvSpPr>
            <a:spLocks xmlns:a="http://schemas.openxmlformats.org/drawingml/2006/main" noGrp="1"/>
          </p:cNvSpPr>
          <p:nvPr/>
        </p:nvSpPr>
        <p:spPr>
          <a:xfrm xmlns:a="http://schemas.openxmlformats.org/drawingml/2006/main">
            <a:off x="1695450" y="2752725"/>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Trust</a:t>
            </a:r>
          </a:p>
        </p:txBody>
      </p:sp>
      <p:sp>
        <p:nvSpPr>
          <p:cNvPr id="6" name="">
            <a:extLst xmlns:a="http://schemas.openxmlformats.org/drawingml/2006/main">
              <a:ext uri="{FF2B5EF4-FFF2-40B4-BE49-F238E27FC236}">
                <a16:creationId xmlns:a16="http://schemas.microsoft.com/office/drawing/2014/main" id="{BAE491DF-3667-4922-90CF-E558F8F5E7C2}"/>
              </a:ext>
            </a:extLst>
          </p:cNvPr>
          <p:cNvSpPr>
            <a:spLocks xmlns:a="http://schemas.openxmlformats.org/drawingml/2006/main" noGrp="1"/>
          </p:cNvSpPr>
          <p:nvPr/>
        </p:nvSpPr>
        <p:spPr>
          <a:xfrm xmlns:a="http://schemas.openxmlformats.org/drawingml/2006/main">
            <a:off x="1695450" y="3257550"/>
            <a:ext cx="2647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Mothers are more likely to act when advice comes through a known local worker.</a:t>
            </a:r>
          </a:p>
        </p:txBody>
      </p:sp>
      <p:sp>
        <p:nvSpPr>
          <p:cNvPr id="7" name="">
            <a:extLst xmlns:a="http://schemas.openxmlformats.org/drawingml/2006/main">
              <a:ext uri="{FF2B5EF4-FFF2-40B4-BE49-F238E27FC236}">
                <a16:creationId xmlns:a16="http://schemas.microsoft.com/office/drawing/2014/main" id="{120BA71F-0952-4AA4-A27F-B5F8ADB91EAD}"/>
              </a:ext>
            </a:extLst>
          </p:cNvPr>
          <p:cNvSpPr>
            <a:spLocks xmlns:a="http://schemas.openxmlformats.org/drawingml/2006/main" noGrp="1"/>
          </p:cNvSpPr>
          <p:nvPr/>
        </p:nvSpPr>
        <p:spPr>
          <a:xfrm xmlns:a="http://schemas.openxmlformats.org/drawingml/2006/main">
            <a:off x="5305425" y="2524125"/>
            <a:ext cx="3143250" cy="2667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C70210-9BF6-4927-AA3D-4DDF5D7B4A85}"/>
              </a:ext>
            </a:extLst>
          </p:cNvPr>
          <p:cNvSpPr>
            <a:spLocks xmlns:a="http://schemas.openxmlformats.org/drawingml/2006/main" noGrp="1"/>
          </p:cNvSpPr>
          <p:nvPr/>
        </p:nvSpPr>
        <p:spPr>
          <a:xfrm xmlns:a="http://schemas.openxmlformats.org/drawingml/2006/main">
            <a:off x="5305425" y="2524125"/>
            <a:ext cx="66675" cy="2667000"/>
          </a:xfrm>
          <a:prstGeom xmlns:a="http://schemas.openxmlformats.org/drawingml/2006/main" prst="rect">
            <a:avLst/>
          </a:prstGeom>
          <a:solidFill xmlns:a="http://schemas.openxmlformats.org/drawingml/2006/main">
            <a:srgbClr val="2B8A67"/>
          </a:solidFill>
          <a:ln xmlns:a="http://schemas.openxmlformats.org/drawingml/2006/main" w="9525">
            <a:solidFill>
              <a:srgbClr val="2B8A67"/>
            </a:solidFill>
            <a:prstDash val="solid"/>
          </a:ln>
        </p:spPr>
      </p:sp>
      <p:sp>
        <p:nvSpPr>
          <p:cNvPr id="9" name="">
            <a:extLst xmlns:a="http://schemas.openxmlformats.org/drawingml/2006/main">
              <a:ext uri="{FF2B5EF4-FFF2-40B4-BE49-F238E27FC236}">
                <a16:creationId xmlns:a16="http://schemas.microsoft.com/office/drawing/2014/main" id="{19E1D872-6DF3-4A29-820D-4651C6029970}"/>
              </a:ext>
            </a:extLst>
          </p:cNvPr>
          <p:cNvSpPr>
            <a:spLocks xmlns:a="http://schemas.openxmlformats.org/drawingml/2006/main" noGrp="1"/>
          </p:cNvSpPr>
          <p:nvPr/>
        </p:nvSpPr>
        <p:spPr>
          <a:xfrm xmlns:a="http://schemas.openxmlformats.org/drawingml/2006/main">
            <a:off x="5553075" y="2752725"/>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Translation</a:t>
            </a:r>
          </a:p>
        </p:txBody>
      </p:sp>
      <p:sp>
        <p:nvSpPr>
          <p:cNvPr id="10" name="">
            <a:extLst xmlns:a="http://schemas.openxmlformats.org/drawingml/2006/main">
              <a:ext uri="{FF2B5EF4-FFF2-40B4-BE49-F238E27FC236}">
                <a16:creationId xmlns:a16="http://schemas.microsoft.com/office/drawing/2014/main" id="{C98C8235-8AC3-4756-AC1A-F687885D2DC1}"/>
              </a:ext>
            </a:extLst>
          </p:cNvPr>
          <p:cNvSpPr>
            <a:spLocks xmlns:a="http://schemas.openxmlformats.org/drawingml/2006/main" noGrp="1"/>
          </p:cNvSpPr>
          <p:nvPr/>
        </p:nvSpPr>
        <p:spPr>
          <a:xfrm xmlns:a="http://schemas.openxmlformats.org/drawingml/2006/main">
            <a:off x="5553075" y="3257550"/>
            <a:ext cx="2647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CHWs can explain content in everyday speech, not formal health vocabulary.</a:t>
            </a:r>
          </a:p>
        </p:txBody>
      </p:sp>
      <p:sp>
        <p:nvSpPr>
          <p:cNvPr id="11" name="">
            <a:extLst xmlns:a="http://schemas.openxmlformats.org/drawingml/2006/main">
              <a:ext uri="{FF2B5EF4-FFF2-40B4-BE49-F238E27FC236}">
                <a16:creationId xmlns:a16="http://schemas.microsoft.com/office/drawing/2014/main" id="{0896CD75-7AAA-4DCF-A0D4-8DA8E980AC73}"/>
              </a:ext>
            </a:extLst>
          </p:cNvPr>
          <p:cNvSpPr>
            <a:spLocks xmlns:a="http://schemas.openxmlformats.org/drawingml/2006/main" noGrp="1"/>
          </p:cNvSpPr>
          <p:nvPr/>
        </p:nvSpPr>
        <p:spPr>
          <a:xfrm xmlns:a="http://schemas.openxmlformats.org/drawingml/2006/main">
            <a:off x="9163050" y="2524125"/>
            <a:ext cx="3143250" cy="26670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C2FB92-D8D4-4C8F-B306-C1DBFBF40C28}"/>
              </a:ext>
            </a:extLst>
          </p:cNvPr>
          <p:cNvSpPr>
            <a:spLocks xmlns:a="http://schemas.openxmlformats.org/drawingml/2006/main" noGrp="1"/>
          </p:cNvSpPr>
          <p:nvPr/>
        </p:nvSpPr>
        <p:spPr>
          <a:xfrm xmlns:a="http://schemas.openxmlformats.org/drawingml/2006/main">
            <a:off x="9163050" y="2524125"/>
            <a:ext cx="66675" cy="26670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9D8D4EBA-5272-410B-8FE6-4B4F96486963}"/>
              </a:ext>
            </a:extLst>
          </p:cNvPr>
          <p:cNvSpPr>
            <a:spLocks xmlns:a="http://schemas.openxmlformats.org/drawingml/2006/main" noGrp="1"/>
          </p:cNvSpPr>
          <p:nvPr/>
        </p:nvSpPr>
        <p:spPr>
          <a:xfrm xmlns:a="http://schemas.openxmlformats.org/drawingml/2006/main">
            <a:off x="9410700" y="2752725"/>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Follow-up</a:t>
            </a:r>
          </a:p>
        </p:txBody>
      </p:sp>
      <p:sp>
        <p:nvSpPr>
          <p:cNvPr id="14" name="">
            <a:extLst xmlns:a="http://schemas.openxmlformats.org/drawingml/2006/main">
              <a:ext uri="{FF2B5EF4-FFF2-40B4-BE49-F238E27FC236}">
                <a16:creationId xmlns:a16="http://schemas.microsoft.com/office/drawing/2014/main" id="{8461EF88-EE91-454F-B14B-B78DC9104103}"/>
              </a:ext>
            </a:extLst>
          </p:cNvPr>
          <p:cNvSpPr>
            <a:spLocks xmlns:a="http://schemas.openxmlformats.org/drawingml/2006/main" noGrp="1"/>
          </p:cNvSpPr>
          <p:nvPr/>
        </p:nvSpPr>
        <p:spPr>
          <a:xfrm xmlns:a="http://schemas.openxmlformats.org/drawingml/2006/main">
            <a:off x="9410700" y="3257550"/>
            <a:ext cx="2647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Dashboards and checklists help workers track visits, risk signs, and overdue care.</a:t>
            </a:r>
          </a:p>
        </p:txBody>
      </p:sp>
      <p:sp>
        <p:nvSpPr>
          <p:cNvPr id="15" name="">
            <a:extLst xmlns:a="http://schemas.openxmlformats.org/drawingml/2006/main">
              <a:ext uri="{FF2B5EF4-FFF2-40B4-BE49-F238E27FC236}">
                <a16:creationId xmlns:a16="http://schemas.microsoft.com/office/drawing/2014/main" id="{2ED0B392-6086-411C-A9E9-B8043F28B2C3}"/>
              </a:ext>
            </a:extLst>
          </p:cNvPr>
          <p:cNvSpPr>
            <a:spLocks xmlns:a="http://schemas.openxmlformats.org/drawingml/2006/main" noGrp="1"/>
          </p:cNvSpPr>
          <p:nvPr/>
        </p:nvSpPr>
        <p:spPr>
          <a:xfrm xmlns:a="http://schemas.openxmlformats.org/drawingml/2006/main">
            <a:off x="1447800" y="5762625"/>
            <a:ext cx="10820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4155C9C-2226-4D38-BD5C-91A4140F7DEC}"/>
              </a:ext>
            </a:extLst>
          </p:cNvPr>
          <p:cNvSpPr>
            <a:spLocks xmlns:a="http://schemas.openxmlformats.org/drawingml/2006/main" noGrp="1"/>
          </p:cNvSpPr>
          <p:nvPr/>
        </p:nvSpPr>
        <p:spPr>
          <a:xfrm xmlns:a="http://schemas.openxmlformats.org/drawingml/2006/main">
            <a:off x="1447800" y="601980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715"/>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Risk to watch: adding app tasks without supervision, recognition, or compensation can weaken CHW motivation over time.</a:t>
            </a:r>
          </a:p>
        </p:txBody>
      </p:sp>
    </p:spTree>
    <p:extLst>
      <p:ext uri="{BB962C8B-B14F-4D97-AF65-F5344CB8AC3E}">
        <p14:creationId xmlns:p14="http://schemas.microsoft.com/office/powerpoint/2010/main" val="18502096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B166BC0F-3FD0-4926-B0F4-E9B33AEBB414}"/>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For low-literacy users, interface choices become health choices</a:t>
            </a:r>
          </a:p>
        </p:txBody>
      </p:sp>
      <p:sp>
        <p:nvSpPr>
          <p:cNvPr id="2" name="">
            <a:extLst xmlns:a="http://schemas.openxmlformats.org/drawingml/2006/main">
              <a:ext uri="{FF2B5EF4-FFF2-40B4-BE49-F238E27FC236}">
                <a16:creationId xmlns:a16="http://schemas.microsoft.com/office/drawing/2014/main" id="{3B4EF3E8-E0C0-4A9C-824E-A034D0445207}"/>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DF3BD8B-3734-42A7-99CD-24CA59C3C86A}"/>
              </a:ext>
            </a:extLst>
          </p:cNvPr>
          <p:cNvSpPr>
            <a:spLocks xmlns:a="http://schemas.openxmlformats.org/drawingml/2006/main" noGrp="1"/>
          </p:cNvSpPr>
          <p:nvPr/>
        </p:nvSpPr>
        <p:spPr>
          <a:xfrm xmlns:a="http://schemas.openxmlformats.org/drawingml/2006/main">
            <a:off x="1152525" y="2038350"/>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00" b="0">
                <a:solidFill>
                  <a:srgbClr val="5D6470"/>
                </a:solidFill>
                <a:latin typeface="Helvetica Neue"/>
                <a:ea typeface="Helvetica Neue"/>
                <a:cs typeface="Helvetica Neue"/>
              </a:defRPr>
            </a:pPr>
            <a:r>
              <a:rPr sz="1800" b="0">
                <a:solidFill>
                  <a:srgbClr val="5D6470"/>
                </a:solidFill>
                <a:latin typeface="Helvetica Neue"/>
                <a:ea typeface="Helvetica Neue"/>
                <a:cs typeface="Helvetica Neue"/>
              </a:rPr>
              <a:t>The review treats these as minimum requirements, not optional enhancements.</a:t>
            </a:r>
          </a:p>
        </p:txBody>
      </p:sp>
      <p:sp>
        <p:nvSpPr>
          <p:cNvPr id="4" name="">
            <a:extLst xmlns:a="http://schemas.openxmlformats.org/drawingml/2006/main">
              <a:ext uri="{FF2B5EF4-FFF2-40B4-BE49-F238E27FC236}">
                <a16:creationId xmlns:a16="http://schemas.microsoft.com/office/drawing/2014/main" id="{C6BB425B-F287-435B-B715-BD5089FFE444}"/>
              </a:ext>
            </a:extLst>
          </p:cNvPr>
          <p:cNvSpPr>
            <a:spLocks xmlns:a="http://schemas.openxmlformats.org/drawingml/2006/main" noGrp="1"/>
          </p:cNvSpPr>
          <p:nvPr/>
        </p:nvSpPr>
        <p:spPr>
          <a:xfrm xmlns:a="http://schemas.openxmlformats.org/drawingml/2006/main">
            <a:off x="1447800" y="2714625"/>
            <a:ext cx="457200"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C38AEF-99B6-4551-B3BE-3ED70458A0E8}"/>
              </a:ext>
            </a:extLst>
          </p:cNvPr>
          <p:cNvSpPr>
            <a:spLocks xmlns:a="http://schemas.openxmlformats.org/drawingml/2006/main" noGrp="1"/>
          </p:cNvSpPr>
          <p:nvPr/>
        </p:nvSpPr>
        <p:spPr>
          <a:xfrm xmlns:a="http://schemas.openxmlformats.org/drawingml/2006/main">
            <a:off x="1447800" y="277177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94F607D0-46F7-4083-9E76-CC3E1B87C238}"/>
              </a:ext>
            </a:extLst>
          </p:cNvPr>
          <p:cNvSpPr>
            <a:spLocks xmlns:a="http://schemas.openxmlformats.org/drawingml/2006/main" noGrp="1"/>
          </p:cNvSpPr>
          <p:nvPr/>
        </p:nvSpPr>
        <p:spPr>
          <a:xfrm xmlns:a="http://schemas.openxmlformats.org/drawingml/2006/main">
            <a:off x="2152650" y="269557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Pictorial checklists</a:t>
            </a:r>
          </a:p>
        </p:txBody>
      </p:sp>
      <p:sp>
        <p:nvSpPr>
          <p:cNvPr id="7" name="">
            <a:extLst xmlns:a="http://schemas.openxmlformats.org/drawingml/2006/main">
              <a:ext uri="{FF2B5EF4-FFF2-40B4-BE49-F238E27FC236}">
                <a16:creationId xmlns:a16="http://schemas.microsoft.com/office/drawing/2014/main" id="{738E8D36-BAC3-4230-ADAA-1A778D91F381}"/>
              </a:ext>
            </a:extLst>
          </p:cNvPr>
          <p:cNvSpPr>
            <a:spLocks xmlns:a="http://schemas.openxmlformats.org/drawingml/2006/main" noGrp="1"/>
          </p:cNvSpPr>
          <p:nvPr/>
        </p:nvSpPr>
        <p:spPr>
          <a:xfrm xmlns:a="http://schemas.openxmlformats.org/drawingml/2006/main">
            <a:off x="2152650" y="30480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D6470"/>
                </a:solidFill>
                <a:latin typeface="Helvetica Neue"/>
                <a:ea typeface="Helvetica Neue"/>
                <a:cs typeface="Helvetica Neue"/>
              </a:defRPr>
            </a:pPr>
            <a:r>
              <a:rPr sz="1500" b="0">
                <a:solidFill>
                  <a:srgbClr val="5D6470"/>
                </a:solidFill>
                <a:latin typeface="Helvetica Neue"/>
                <a:ea typeface="Helvetica Neue"/>
                <a:cs typeface="Helvetica Neue"/>
              </a:rPr>
              <a:t>Symptoms and tasks must be recognizable without reading.</a:t>
            </a:r>
          </a:p>
        </p:txBody>
      </p:sp>
      <p:sp>
        <p:nvSpPr>
          <p:cNvPr id="8" name="">
            <a:extLst xmlns:a="http://schemas.openxmlformats.org/drawingml/2006/main">
              <a:ext uri="{FF2B5EF4-FFF2-40B4-BE49-F238E27FC236}">
                <a16:creationId xmlns:a16="http://schemas.microsoft.com/office/drawing/2014/main" id="{E7D857CC-8D48-403E-A180-533722CC83E6}"/>
              </a:ext>
            </a:extLst>
          </p:cNvPr>
          <p:cNvSpPr>
            <a:spLocks xmlns:a="http://schemas.openxmlformats.org/drawingml/2006/main" noGrp="1"/>
          </p:cNvSpPr>
          <p:nvPr/>
        </p:nvSpPr>
        <p:spPr>
          <a:xfrm xmlns:a="http://schemas.openxmlformats.org/drawingml/2006/main">
            <a:off x="1447800" y="3448050"/>
            <a:ext cx="457200" cy="457200"/>
          </a:xfrm>
          <a:prstGeom xmlns:a="http://schemas.openxmlformats.org/drawingml/2006/main" prst="rect">
            <a:avLst/>
          </a:prstGeom>
          <a:solidFill xmlns:a="http://schemas.openxmlformats.org/drawingml/2006/main">
            <a:srgbClr val="2B8A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0DD190-D1AD-432A-A89C-F6405ED23CA9}"/>
              </a:ext>
            </a:extLst>
          </p:cNvPr>
          <p:cNvSpPr>
            <a:spLocks xmlns:a="http://schemas.openxmlformats.org/drawingml/2006/main" noGrp="1"/>
          </p:cNvSpPr>
          <p:nvPr/>
        </p:nvSpPr>
        <p:spPr>
          <a:xfrm xmlns:a="http://schemas.openxmlformats.org/drawingml/2006/main">
            <a:off x="1447800" y="350520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CDA0D1B0-96AE-4EF4-85B2-0394F213E501}"/>
              </a:ext>
            </a:extLst>
          </p:cNvPr>
          <p:cNvSpPr>
            <a:spLocks xmlns:a="http://schemas.openxmlformats.org/drawingml/2006/main" noGrp="1"/>
          </p:cNvSpPr>
          <p:nvPr/>
        </p:nvSpPr>
        <p:spPr>
          <a:xfrm xmlns:a="http://schemas.openxmlformats.org/drawingml/2006/main">
            <a:off x="2152650" y="3429000"/>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Voice narration</a:t>
            </a:r>
          </a:p>
        </p:txBody>
      </p:sp>
      <p:sp>
        <p:nvSpPr>
          <p:cNvPr id="11" name="">
            <a:extLst xmlns:a="http://schemas.openxmlformats.org/drawingml/2006/main">
              <a:ext uri="{FF2B5EF4-FFF2-40B4-BE49-F238E27FC236}">
                <a16:creationId xmlns:a16="http://schemas.microsoft.com/office/drawing/2014/main" id="{95D79763-C5FA-4183-B44E-F86A69C3239A}"/>
              </a:ext>
            </a:extLst>
          </p:cNvPr>
          <p:cNvSpPr>
            <a:spLocks xmlns:a="http://schemas.openxmlformats.org/drawingml/2006/main" noGrp="1"/>
          </p:cNvSpPr>
          <p:nvPr/>
        </p:nvSpPr>
        <p:spPr>
          <a:xfrm xmlns:a="http://schemas.openxmlformats.org/drawingml/2006/main">
            <a:off x="2152650" y="378142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D6470"/>
                </a:solidFill>
                <a:latin typeface="Helvetica Neue"/>
                <a:ea typeface="Helvetica Neue"/>
                <a:cs typeface="Helvetica Neue"/>
              </a:defRPr>
            </a:pPr>
            <a:r>
              <a:rPr sz="1500" b="0">
                <a:solidFill>
                  <a:srgbClr val="5D6470"/>
                </a:solidFill>
                <a:latin typeface="Helvetica Neue"/>
                <a:ea typeface="Helvetica Neue"/>
                <a:cs typeface="Helvetica Neue"/>
              </a:rPr>
              <a:t>Audio should explain screens in Bangla, Sylheti, or Chattisheuli.</a:t>
            </a:r>
          </a:p>
        </p:txBody>
      </p:sp>
      <p:sp>
        <p:nvSpPr>
          <p:cNvPr id="12" name="">
            <a:extLst xmlns:a="http://schemas.openxmlformats.org/drawingml/2006/main">
              <a:ext uri="{FF2B5EF4-FFF2-40B4-BE49-F238E27FC236}">
                <a16:creationId xmlns:a16="http://schemas.microsoft.com/office/drawing/2014/main" id="{776492E0-07B1-420E-9344-37BB6997E83A}"/>
              </a:ext>
            </a:extLst>
          </p:cNvPr>
          <p:cNvSpPr>
            <a:spLocks xmlns:a="http://schemas.openxmlformats.org/drawingml/2006/main" noGrp="1"/>
          </p:cNvSpPr>
          <p:nvPr/>
        </p:nvSpPr>
        <p:spPr>
          <a:xfrm xmlns:a="http://schemas.openxmlformats.org/drawingml/2006/main">
            <a:off x="1447800" y="4181475"/>
            <a:ext cx="457200"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E6DFF7-09C7-468B-A138-B155FC8BEDBA}"/>
              </a:ext>
            </a:extLst>
          </p:cNvPr>
          <p:cNvSpPr>
            <a:spLocks xmlns:a="http://schemas.openxmlformats.org/drawingml/2006/main" noGrp="1"/>
          </p:cNvSpPr>
          <p:nvPr/>
        </p:nvSpPr>
        <p:spPr>
          <a:xfrm xmlns:a="http://schemas.openxmlformats.org/drawingml/2006/main">
            <a:off x="1447800" y="423862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A828F867-783F-4263-91F1-38B7FD5BD161}"/>
              </a:ext>
            </a:extLst>
          </p:cNvPr>
          <p:cNvSpPr>
            <a:spLocks xmlns:a="http://schemas.openxmlformats.org/drawingml/2006/main" noGrp="1"/>
          </p:cNvSpPr>
          <p:nvPr/>
        </p:nvSpPr>
        <p:spPr>
          <a:xfrm xmlns:a="http://schemas.openxmlformats.org/drawingml/2006/main">
            <a:off x="2152650" y="416242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Flat navigation</a:t>
            </a:r>
          </a:p>
        </p:txBody>
      </p:sp>
      <p:sp>
        <p:nvSpPr>
          <p:cNvPr id="15" name="">
            <a:extLst xmlns:a="http://schemas.openxmlformats.org/drawingml/2006/main">
              <a:ext uri="{FF2B5EF4-FFF2-40B4-BE49-F238E27FC236}">
                <a16:creationId xmlns:a16="http://schemas.microsoft.com/office/drawing/2014/main" id="{342C6584-A475-4A2F-83DF-44D525101F8A}"/>
              </a:ext>
            </a:extLst>
          </p:cNvPr>
          <p:cNvSpPr>
            <a:spLocks xmlns:a="http://schemas.openxmlformats.org/drawingml/2006/main" noGrp="1"/>
          </p:cNvSpPr>
          <p:nvPr/>
        </p:nvSpPr>
        <p:spPr>
          <a:xfrm xmlns:a="http://schemas.openxmlformats.org/drawingml/2006/main">
            <a:off x="2152650" y="45148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D6470"/>
                </a:solidFill>
                <a:latin typeface="Helvetica Neue"/>
                <a:ea typeface="Helvetica Neue"/>
                <a:cs typeface="Helvetica Neue"/>
              </a:defRPr>
            </a:pPr>
            <a:r>
              <a:rPr sz="1500" b="0">
                <a:solidFill>
                  <a:srgbClr val="5D6470"/>
                </a:solidFill>
                <a:latin typeface="Helvetica Neue"/>
                <a:ea typeface="Helvetica Neue"/>
                <a:cs typeface="Helvetica Neue"/>
              </a:rPr>
              <a:t>Fewer taps reduces confusion for first-time smartphone users.</a:t>
            </a:r>
          </a:p>
        </p:txBody>
      </p:sp>
      <p:sp>
        <p:nvSpPr>
          <p:cNvPr id="16" name="">
            <a:extLst xmlns:a="http://schemas.openxmlformats.org/drawingml/2006/main">
              <a:ext uri="{FF2B5EF4-FFF2-40B4-BE49-F238E27FC236}">
                <a16:creationId xmlns:a16="http://schemas.microsoft.com/office/drawing/2014/main" id="{DA22E3CB-70E1-40AA-88BB-9C496680E129}"/>
              </a:ext>
            </a:extLst>
          </p:cNvPr>
          <p:cNvSpPr>
            <a:spLocks xmlns:a="http://schemas.openxmlformats.org/drawingml/2006/main" noGrp="1"/>
          </p:cNvSpPr>
          <p:nvPr/>
        </p:nvSpPr>
        <p:spPr>
          <a:xfrm xmlns:a="http://schemas.openxmlformats.org/drawingml/2006/main">
            <a:off x="1447800" y="4914900"/>
            <a:ext cx="457200" cy="457200"/>
          </a:xfrm>
          <a:prstGeom xmlns:a="http://schemas.openxmlformats.org/drawingml/2006/main" prst="rect">
            <a:avLst/>
          </a:prstGeom>
          <a:solidFill xmlns:a="http://schemas.openxmlformats.org/drawingml/2006/main">
            <a:srgbClr val="2B8A6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D9CCCCF-4518-4096-9329-EFE5BAB59ADB}"/>
              </a:ext>
            </a:extLst>
          </p:cNvPr>
          <p:cNvSpPr>
            <a:spLocks xmlns:a="http://schemas.openxmlformats.org/drawingml/2006/main" noGrp="1"/>
          </p:cNvSpPr>
          <p:nvPr/>
        </p:nvSpPr>
        <p:spPr>
          <a:xfrm xmlns:a="http://schemas.openxmlformats.org/drawingml/2006/main">
            <a:off x="1447800" y="497205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2E5FA966-D467-4285-B261-7BE7B60B252A}"/>
              </a:ext>
            </a:extLst>
          </p:cNvPr>
          <p:cNvSpPr>
            <a:spLocks xmlns:a="http://schemas.openxmlformats.org/drawingml/2006/main" noGrp="1"/>
          </p:cNvSpPr>
          <p:nvPr/>
        </p:nvSpPr>
        <p:spPr>
          <a:xfrm xmlns:a="http://schemas.openxmlformats.org/drawingml/2006/main">
            <a:off x="2152650" y="4895850"/>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Offline operation</a:t>
            </a:r>
          </a:p>
        </p:txBody>
      </p:sp>
      <p:sp>
        <p:nvSpPr>
          <p:cNvPr id="19" name="">
            <a:extLst xmlns:a="http://schemas.openxmlformats.org/drawingml/2006/main">
              <a:ext uri="{FF2B5EF4-FFF2-40B4-BE49-F238E27FC236}">
                <a16:creationId xmlns:a16="http://schemas.microsoft.com/office/drawing/2014/main" id="{EA4C4B93-2658-4A7B-9249-76894CDB0C38}"/>
              </a:ext>
            </a:extLst>
          </p:cNvPr>
          <p:cNvSpPr>
            <a:spLocks xmlns:a="http://schemas.openxmlformats.org/drawingml/2006/main" noGrp="1"/>
          </p:cNvSpPr>
          <p:nvPr/>
        </p:nvSpPr>
        <p:spPr>
          <a:xfrm xmlns:a="http://schemas.openxmlformats.org/drawingml/2006/main">
            <a:off x="2152650" y="52482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D6470"/>
                </a:solidFill>
                <a:latin typeface="Helvetica Neue"/>
                <a:ea typeface="Helvetica Neue"/>
                <a:cs typeface="Helvetica Neue"/>
              </a:defRPr>
            </a:pPr>
            <a:r>
              <a:rPr sz="1500" b="0">
                <a:solidFill>
                  <a:srgbClr val="5D6470"/>
                </a:solidFill>
                <a:latin typeface="Helvetica Neue"/>
                <a:ea typeface="Helvetica Neue"/>
                <a:cs typeface="Helvetica Neue"/>
              </a:rPr>
              <a:t>Core guidance should work when the network fails.</a:t>
            </a:r>
          </a:p>
        </p:txBody>
      </p:sp>
      <p:sp>
        <p:nvSpPr>
          <p:cNvPr id="20" name="">
            <a:extLst xmlns:a="http://schemas.openxmlformats.org/drawingml/2006/main">
              <a:ext uri="{FF2B5EF4-FFF2-40B4-BE49-F238E27FC236}">
                <a16:creationId xmlns:a16="http://schemas.microsoft.com/office/drawing/2014/main" id="{1CA27241-E11E-4670-95CB-D767FBCCC505}"/>
              </a:ext>
            </a:extLst>
          </p:cNvPr>
          <p:cNvSpPr>
            <a:spLocks xmlns:a="http://schemas.openxmlformats.org/drawingml/2006/main" noGrp="1"/>
          </p:cNvSpPr>
          <p:nvPr/>
        </p:nvSpPr>
        <p:spPr>
          <a:xfrm xmlns:a="http://schemas.openxmlformats.org/drawingml/2006/main">
            <a:off x="1447800" y="5648325"/>
            <a:ext cx="457200" cy="45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449B320-E978-4265-B7E0-7D88A0E32FDC}"/>
              </a:ext>
            </a:extLst>
          </p:cNvPr>
          <p:cNvSpPr>
            <a:spLocks xmlns:a="http://schemas.openxmlformats.org/drawingml/2006/main" noGrp="1"/>
          </p:cNvSpPr>
          <p:nvPr/>
        </p:nvSpPr>
        <p:spPr>
          <a:xfrm xmlns:a="http://schemas.openxmlformats.org/drawingml/2006/main">
            <a:off x="1447800" y="570547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5</a:t>
            </a:r>
          </a:p>
        </p:txBody>
      </p:sp>
      <p:sp>
        <p:nvSpPr>
          <p:cNvPr id="22" name="">
            <a:extLst xmlns:a="http://schemas.openxmlformats.org/drawingml/2006/main">
              <a:ext uri="{FF2B5EF4-FFF2-40B4-BE49-F238E27FC236}">
                <a16:creationId xmlns:a16="http://schemas.microsoft.com/office/drawing/2014/main" id="{59CF6F9E-174F-408A-97E0-E156AECF2DE6}"/>
              </a:ext>
            </a:extLst>
          </p:cNvPr>
          <p:cNvSpPr>
            <a:spLocks xmlns:a="http://schemas.openxmlformats.org/drawingml/2006/main" noGrp="1"/>
          </p:cNvSpPr>
          <p:nvPr/>
        </p:nvSpPr>
        <p:spPr>
          <a:xfrm xmlns:a="http://schemas.openxmlformats.org/drawingml/2006/main">
            <a:off x="2152650" y="562927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Shared-phone privacy</a:t>
            </a:r>
          </a:p>
        </p:txBody>
      </p:sp>
      <p:sp>
        <p:nvSpPr>
          <p:cNvPr id="23" name="">
            <a:extLst xmlns:a="http://schemas.openxmlformats.org/drawingml/2006/main">
              <a:ext uri="{FF2B5EF4-FFF2-40B4-BE49-F238E27FC236}">
                <a16:creationId xmlns:a16="http://schemas.microsoft.com/office/drawing/2014/main" id="{CC476DD0-8F70-48A6-9777-05B3F95FD7F2}"/>
              </a:ext>
            </a:extLst>
          </p:cNvPr>
          <p:cNvSpPr>
            <a:spLocks xmlns:a="http://schemas.openxmlformats.org/drawingml/2006/main" noGrp="1"/>
          </p:cNvSpPr>
          <p:nvPr/>
        </p:nvSpPr>
        <p:spPr>
          <a:xfrm xmlns:a="http://schemas.openxmlformats.org/drawingml/2006/main">
            <a:off x="2152650" y="59817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D6470"/>
                </a:solidFill>
                <a:latin typeface="Helvetica Neue"/>
                <a:ea typeface="Helvetica Neue"/>
                <a:cs typeface="Helvetica Neue"/>
              </a:defRPr>
            </a:pPr>
            <a:r>
              <a:rPr sz="1500" b="0">
                <a:solidFill>
                  <a:srgbClr val="5D6470"/>
                </a:solidFill>
                <a:latin typeface="Helvetica Neue"/>
                <a:ea typeface="Helvetica Neue"/>
                <a:cs typeface="Helvetica Neue"/>
              </a:rPr>
              <a:t>Reminders must account for who actually holds the device.</a:t>
            </a:r>
          </a:p>
        </p:txBody>
      </p:sp>
    </p:spTree>
    <p:extLst>
      <p:ext uri="{BB962C8B-B14F-4D97-AF65-F5344CB8AC3E}">
        <p14:creationId xmlns:p14="http://schemas.microsoft.com/office/powerpoint/2010/main" val="8827116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EA37E32-B4DD-42DC-A654-A5EE0DA2BD3A}"/>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768"/>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The proposed tool pairs mother-facing guidance with CHW control</a:t>
            </a:r>
          </a:p>
        </p:txBody>
      </p:sp>
      <p:sp>
        <p:nvSpPr>
          <p:cNvPr id="2" name="">
            <a:extLst xmlns:a="http://schemas.openxmlformats.org/drawingml/2006/main">
              <a:ext uri="{FF2B5EF4-FFF2-40B4-BE49-F238E27FC236}">
                <a16:creationId xmlns:a16="http://schemas.microsoft.com/office/drawing/2014/main" id="{C59CF965-B32F-4645-85B9-58D46181D9E6}"/>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EE8FBAB9-D6A4-48AA-ABB1-CEA3A9E47FDB}"/>
              </a:ext>
            </a:extLst>
          </p:cNvPr>
          <p:cNvSpPr>
            <a:spLocks xmlns:a="http://schemas.openxmlformats.org/drawingml/2006/main" noGrp="1"/>
          </p:cNvSpPr>
          <p:nvPr/>
        </p:nvSpPr>
        <p:spPr>
          <a:xfrm xmlns:a="http://schemas.openxmlformats.org/drawingml/2006/main">
            <a:off x="1809750" y="4048125"/>
            <a:ext cx="990600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4" name="">
            <a:extLst xmlns:a="http://schemas.openxmlformats.org/drawingml/2006/main">
              <a:ext uri="{FF2B5EF4-FFF2-40B4-BE49-F238E27FC236}">
                <a16:creationId xmlns:a16="http://schemas.microsoft.com/office/drawing/2014/main" id="{56956FB0-FBBB-4703-BE33-EB306993AE9B}"/>
              </a:ext>
            </a:extLst>
          </p:cNvPr>
          <p:cNvSpPr>
            <a:spLocks xmlns:a="http://schemas.openxmlformats.org/drawingml/2006/main" noGrp="1"/>
          </p:cNvSpPr>
          <p:nvPr/>
        </p:nvSpPr>
        <p:spPr>
          <a:xfrm xmlns:a="http://schemas.openxmlformats.org/drawingml/2006/main">
            <a:off x="1428750" y="2838450"/>
            <a:ext cx="1714500" cy="23336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37D86A-C70D-4002-BF4D-5F79EEE63081}"/>
              </a:ext>
            </a:extLst>
          </p:cNvPr>
          <p:cNvSpPr>
            <a:spLocks xmlns:a="http://schemas.openxmlformats.org/drawingml/2006/main" noGrp="1"/>
          </p:cNvSpPr>
          <p:nvPr/>
        </p:nvSpPr>
        <p:spPr>
          <a:xfrm xmlns:a="http://schemas.openxmlformats.org/drawingml/2006/main">
            <a:off x="1428750" y="2838450"/>
            <a:ext cx="1714500" cy="95250"/>
          </a:xfrm>
          <a:prstGeom xmlns:a="http://schemas.openxmlformats.org/drawingml/2006/main" prst="rect">
            <a:avLst/>
          </a:prstGeom>
          <a:solidFill xmlns:a="http://schemas.openxmlformats.org/drawingml/2006/main">
            <a:srgbClr val="2B8A67"/>
          </a:solidFill>
          <a:ln xmlns:a="http://schemas.openxmlformats.org/drawingml/2006/main" w="9525">
            <a:solidFill>
              <a:srgbClr val="2B8A67"/>
            </a:solidFill>
            <a:prstDash val="solid"/>
          </a:ln>
        </p:spPr>
      </p:sp>
      <p:sp>
        <p:nvSpPr>
          <p:cNvPr id="6" name="">
            <a:extLst xmlns:a="http://schemas.openxmlformats.org/drawingml/2006/main">
              <a:ext uri="{FF2B5EF4-FFF2-40B4-BE49-F238E27FC236}">
                <a16:creationId xmlns:a16="http://schemas.microsoft.com/office/drawing/2014/main" id="{B8C57069-D912-44AA-81ED-EAC7388A53EF}"/>
              </a:ext>
            </a:extLst>
          </p:cNvPr>
          <p:cNvSpPr>
            <a:spLocks xmlns:a="http://schemas.openxmlformats.org/drawingml/2006/main" noGrp="1"/>
          </p:cNvSpPr>
          <p:nvPr/>
        </p:nvSpPr>
        <p:spPr>
          <a:xfrm xmlns:a="http://schemas.openxmlformats.org/drawingml/2006/main">
            <a:off x="1600200" y="3209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Mother</a:t>
            </a:r>
          </a:p>
        </p:txBody>
      </p:sp>
      <p:sp>
        <p:nvSpPr>
          <p:cNvPr id="7" name="">
            <a:extLst xmlns:a="http://schemas.openxmlformats.org/drawingml/2006/main">
              <a:ext uri="{FF2B5EF4-FFF2-40B4-BE49-F238E27FC236}">
                <a16:creationId xmlns:a16="http://schemas.microsoft.com/office/drawing/2014/main" id="{13FB135C-BC58-44FA-81DD-7B904508FB65}"/>
              </a:ext>
            </a:extLst>
          </p:cNvPr>
          <p:cNvSpPr>
            <a:spLocks xmlns:a="http://schemas.openxmlformats.org/drawingml/2006/main" noGrp="1"/>
          </p:cNvSpPr>
          <p:nvPr/>
        </p:nvSpPr>
        <p:spPr>
          <a:xfrm xmlns:a="http://schemas.openxmlformats.org/drawingml/2006/main">
            <a:off x="1600200" y="3810000"/>
            <a:ext cx="1371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audio + pictorial guidance</a:t>
            </a:r>
          </a:p>
        </p:txBody>
      </p:sp>
      <p:sp>
        <p:nvSpPr>
          <p:cNvPr id="8" name="">
            <a:extLst xmlns:a="http://schemas.openxmlformats.org/drawingml/2006/main">
              <a:ext uri="{FF2B5EF4-FFF2-40B4-BE49-F238E27FC236}">
                <a16:creationId xmlns:a16="http://schemas.microsoft.com/office/drawing/2014/main" id="{DCD1FE8F-CAFB-45B7-AC67-B5D6F7FEC2E6}"/>
              </a:ext>
            </a:extLst>
          </p:cNvPr>
          <p:cNvSpPr>
            <a:spLocks xmlns:a="http://schemas.openxmlformats.org/drawingml/2006/main" noGrp="1"/>
          </p:cNvSpPr>
          <p:nvPr/>
        </p:nvSpPr>
        <p:spPr>
          <a:xfrm xmlns:a="http://schemas.openxmlformats.org/drawingml/2006/main">
            <a:off x="3714750" y="2838450"/>
            <a:ext cx="1714500" cy="23336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B296EE-67A8-4917-9A02-5E21CE638874}"/>
              </a:ext>
            </a:extLst>
          </p:cNvPr>
          <p:cNvSpPr>
            <a:spLocks xmlns:a="http://schemas.openxmlformats.org/drawingml/2006/main" noGrp="1"/>
          </p:cNvSpPr>
          <p:nvPr/>
        </p:nvSpPr>
        <p:spPr>
          <a:xfrm xmlns:a="http://schemas.openxmlformats.org/drawingml/2006/main">
            <a:off x="3714750" y="2838450"/>
            <a:ext cx="1714500" cy="952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A79109C3-B131-4E33-9772-A3DD8CD69816}"/>
              </a:ext>
            </a:extLst>
          </p:cNvPr>
          <p:cNvSpPr>
            <a:spLocks xmlns:a="http://schemas.openxmlformats.org/drawingml/2006/main" noGrp="1"/>
          </p:cNvSpPr>
          <p:nvPr/>
        </p:nvSpPr>
        <p:spPr>
          <a:xfrm xmlns:a="http://schemas.openxmlformats.org/drawingml/2006/main">
            <a:off x="3886200" y="3209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CHW app</a:t>
            </a:r>
          </a:p>
        </p:txBody>
      </p:sp>
      <p:sp>
        <p:nvSpPr>
          <p:cNvPr id="11" name="">
            <a:extLst xmlns:a="http://schemas.openxmlformats.org/drawingml/2006/main">
              <a:ext uri="{FF2B5EF4-FFF2-40B4-BE49-F238E27FC236}">
                <a16:creationId xmlns:a16="http://schemas.microsoft.com/office/drawing/2014/main" id="{BEB70A3D-5735-4354-9AF3-7413F6D47D2E}"/>
              </a:ext>
            </a:extLst>
          </p:cNvPr>
          <p:cNvSpPr>
            <a:spLocks xmlns:a="http://schemas.openxmlformats.org/drawingml/2006/main" noGrp="1"/>
          </p:cNvSpPr>
          <p:nvPr/>
        </p:nvSpPr>
        <p:spPr>
          <a:xfrm xmlns:a="http://schemas.openxmlformats.org/drawingml/2006/main">
            <a:off x="3886200" y="3810000"/>
            <a:ext cx="1371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visit checklist + danger signs</a:t>
            </a:r>
          </a:p>
        </p:txBody>
      </p:sp>
      <p:sp>
        <p:nvSpPr>
          <p:cNvPr id="12" name="">
            <a:extLst xmlns:a="http://schemas.openxmlformats.org/drawingml/2006/main">
              <a:ext uri="{FF2B5EF4-FFF2-40B4-BE49-F238E27FC236}">
                <a16:creationId xmlns:a16="http://schemas.microsoft.com/office/drawing/2014/main" id="{CB9493B7-0E35-4E10-86A5-E1103E279FBC}"/>
              </a:ext>
            </a:extLst>
          </p:cNvPr>
          <p:cNvSpPr>
            <a:spLocks xmlns:a="http://schemas.openxmlformats.org/drawingml/2006/main" noGrp="1"/>
          </p:cNvSpPr>
          <p:nvPr/>
        </p:nvSpPr>
        <p:spPr>
          <a:xfrm xmlns:a="http://schemas.openxmlformats.org/drawingml/2006/main">
            <a:off x="6000750" y="2838450"/>
            <a:ext cx="1714500" cy="23336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54FCD3D-F20F-482F-985D-B9639F71BE7C}"/>
              </a:ext>
            </a:extLst>
          </p:cNvPr>
          <p:cNvSpPr>
            <a:spLocks xmlns:a="http://schemas.openxmlformats.org/drawingml/2006/main" noGrp="1"/>
          </p:cNvSpPr>
          <p:nvPr/>
        </p:nvSpPr>
        <p:spPr>
          <a:xfrm xmlns:a="http://schemas.openxmlformats.org/drawingml/2006/main">
            <a:off x="6000750" y="2838450"/>
            <a:ext cx="1714500" cy="952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E6B30B1E-56C5-455B-9E34-3EA7BEFE0B1D}"/>
              </a:ext>
            </a:extLst>
          </p:cNvPr>
          <p:cNvSpPr>
            <a:spLocks xmlns:a="http://schemas.openxmlformats.org/drawingml/2006/main" noGrp="1"/>
          </p:cNvSpPr>
          <p:nvPr/>
        </p:nvSpPr>
        <p:spPr>
          <a:xfrm xmlns:a="http://schemas.openxmlformats.org/drawingml/2006/main">
            <a:off x="6172200" y="3209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Tracker</a:t>
            </a:r>
          </a:p>
        </p:txBody>
      </p:sp>
      <p:sp>
        <p:nvSpPr>
          <p:cNvPr id="15" name="">
            <a:extLst xmlns:a="http://schemas.openxmlformats.org/drawingml/2006/main">
              <a:ext uri="{FF2B5EF4-FFF2-40B4-BE49-F238E27FC236}">
                <a16:creationId xmlns:a16="http://schemas.microsoft.com/office/drawing/2014/main" id="{2900AB72-63F1-4C50-AC39-EDF4A95DFBC2}"/>
              </a:ext>
            </a:extLst>
          </p:cNvPr>
          <p:cNvSpPr>
            <a:spLocks xmlns:a="http://schemas.openxmlformats.org/drawingml/2006/main" noGrp="1"/>
          </p:cNvSpPr>
          <p:nvPr/>
        </p:nvSpPr>
        <p:spPr>
          <a:xfrm xmlns:a="http://schemas.openxmlformats.org/drawingml/2006/main">
            <a:off x="6172200" y="3810000"/>
            <a:ext cx="1371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ANC, PNC, vaccines</a:t>
            </a:r>
          </a:p>
        </p:txBody>
      </p:sp>
      <p:sp>
        <p:nvSpPr>
          <p:cNvPr id="16" name="">
            <a:extLst xmlns:a="http://schemas.openxmlformats.org/drawingml/2006/main">
              <a:ext uri="{FF2B5EF4-FFF2-40B4-BE49-F238E27FC236}">
                <a16:creationId xmlns:a16="http://schemas.microsoft.com/office/drawing/2014/main" id="{69759908-A8FE-4C1A-BFF3-65C889D77FE6}"/>
              </a:ext>
            </a:extLst>
          </p:cNvPr>
          <p:cNvSpPr>
            <a:spLocks xmlns:a="http://schemas.openxmlformats.org/drawingml/2006/main" noGrp="1"/>
          </p:cNvSpPr>
          <p:nvPr/>
        </p:nvSpPr>
        <p:spPr>
          <a:xfrm xmlns:a="http://schemas.openxmlformats.org/drawingml/2006/main">
            <a:off x="8286750" y="2838450"/>
            <a:ext cx="1714500" cy="23336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29CF389-589E-4A1A-B728-48141DF550D4}"/>
              </a:ext>
            </a:extLst>
          </p:cNvPr>
          <p:cNvSpPr>
            <a:spLocks xmlns:a="http://schemas.openxmlformats.org/drawingml/2006/main" noGrp="1"/>
          </p:cNvSpPr>
          <p:nvPr/>
        </p:nvSpPr>
        <p:spPr>
          <a:xfrm xmlns:a="http://schemas.openxmlformats.org/drawingml/2006/main">
            <a:off x="8286750" y="2838450"/>
            <a:ext cx="1714500" cy="95250"/>
          </a:xfrm>
          <a:prstGeom xmlns:a="http://schemas.openxmlformats.org/drawingml/2006/main" prst="rect">
            <a:avLst/>
          </a:prstGeom>
          <a:solidFill xmlns:a="http://schemas.openxmlformats.org/drawingml/2006/main">
            <a:srgbClr val="2B8A67"/>
          </a:solidFill>
          <a:ln xmlns:a="http://schemas.openxmlformats.org/drawingml/2006/main" w="9525">
            <a:solidFill>
              <a:srgbClr val="2B8A67"/>
            </a:solidFill>
            <a:prstDash val="solid"/>
          </a:ln>
        </p:spPr>
      </p:sp>
      <p:sp>
        <p:nvSpPr>
          <p:cNvPr id="18" name="">
            <a:extLst xmlns:a="http://schemas.openxmlformats.org/drawingml/2006/main">
              <a:ext uri="{FF2B5EF4-FFF2-40B4-BE49-F238E27FC236}">
                <a16:creationId xmlns:a16="http://schemas.microsoft.com/office/drawing/2014/main" id="{0C365165-6007-4686-8C7D-CCA1131FBF8B}"/>
              </a:ext>
            </a:extLst>
          </p:cNvPr>
          <p:cNvSpPr>
            <a:spLocks xmlns:a="http://schemas.openxmlformats.org/drawingml/2006/main" noGrp="1"/>
          </p:cNvSpPr>
          <p:nvPr/>
        </p:nvSpPr>
        <p:spPr>
          <a:xfrm xmlns:a="http://schemas.openxmlformats.org/drawingml/2006/main">
            <a:off x="8458200" y="3209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Offline sync</a:t>
            </a:r>
          </a:p>
        </p:txBody>
      </p:sp>
      <p:sp>
        <p:nvSpPr>
          <p:cNvPr id="19" name="">
            <a:extLst xmlns:a="http://schemas.openxmlformats.org/drawingml/2006/main">
              <a:ext uri="{FF2B5EF4-FFF2-40B4-BE49-F238E27FC236}">
                <a16:creationId xmlns:a16="http://schemas.microsoft.com/office/drawing/2014/main" id="{1E3AB106-AC42-4A0A-B690-2DC756594465}"/>
              </a:ext>
            </a:extLst>
          </p:cNvPr>
          <p:cNvSpPr>
            <a:spLocks xmlns:a="http://schemas.openxmlformats.org/drawingml/2006/main" noGrp="1"/>
          </p:cNvSpPr>
          <p:nvPr/>
        </p:nvSpPr>
        <p:spPr>
          <a:xfrm xmlns:a="http://schemas.openxmlformats.org/drawingml/2006/main">
            <a:off x="8458200" y="3810000"/>
            <a:ext cx="1371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works without live signal</a:t>
            </a:r>
          </a:p>
        </p:txBody>
      </p:sp>
      <p:sp>
        <p:nvSpPr>
          <p:cNvPr id="20" name="">
            <a:extLst xmlns:a="http://schemas.openxmlformats.org/drawingml/2006/main">
              <a:ext uri="{FF2B5EF4-FFF2-40B4-BE49-F238E27FC236}">
                <a16:creationId xmlns:a16="http://schemas.microsoft.com/office/drawing/2014/main" id="{46031845-0FEC-4171-AC59-DC7F39338EE8}"/>
              </a:ext>
            </a:extLst>
          </p:cNvPr>
          <p:cNvSpPr>
            <a:spLocks xmlns:a="http://schemas.openxmlformats.org/drawingml/2006/main" noGrp="1"/>
          </p:cNvSpPr>
          <p:nvPr/>
        </p:nvSpPr>
        <p:spPr>
          <a:xfrm xmlns:a="http://schemas.openxmlformats.org/drawingml/2006/main">
            <a:off x="10572750" y="2838450"/>
            <a:ext cx="1714500" cy="23336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4AF2302-3DA8-4082-9C08-FA7D921C9B4C}"/>
              </a:ext>
            </a:extLst>
          </p:cNvPr>
          <p:cNvSpPr>
            <a:spLocks xmlns:a="http://schemas.openxmlformats.org/drawingml/2006/main" noGrp="1"/>
          </p:cNvSpPr>
          <p:nvPr/>
        </p:nvSpPr>
        <p:spPr>
          <a:xfrm xmlns:a="http://schemas.openxmlformats.org/drawingml/2006/main">
            <a:off x="10572750" y="2838450"/>
            <a:ext cx="1714500" cy="95250"/>
          </a:xfrm>
          <a:prstGeom xmlns:a="http://schemas.openxmlformats.org/drawingml/2006/main" prst="rect">
            <a:avLst/>
          </a:prstGeom>
          <a:solidFill xmlns:a="http://schemas.openxmlformats.org/drawingml/2006/main">
            <a:srgbClr val="D85C5C"/>
          </a:solidFill>
          <a:ln xmlns:a="http://schemas.openxmlformats.org/drawingml/2006/main" w="9525">
            <a:solidFill>
              <a:srgbClr val="D85C5C"/>
            </a:solidFill>
            <a:prstDash val="solid"/>
          </a:ln>
        </p:spPr>
      </p:sp>
      <p:sp>
        <p:nvSpPr>
          <p:cNvPr id="22" name="">
            <a:extLst xmlns:a="http://schemas.openxmlformats.org/drawingml/2006/main">
              <a:ext uri="{FF2B5EF4-FFF2-40B4-BE49-F238E27FC236}">
                <a16:creationId xmlns:a16="http://schemas.microsoft.com/office/drawing/2014/main" id="{9A8CAD72-3DEA-48C5-A026-83F0E3BFBADE}"/>
              </a:ext>
            </a:extLst>
          </p:cNvPr>
          <p:cNvSpPr>
            <a:spLocks xmlns:a="http://schemas.openxmlformats.org/drawingml/2006/main" noGrp="1"/>
          </p:cNvSpPr>
          <p:nvPr/>
        </p:nvSpPr>
        <p:spPr>
          <a:xfrm xmlns:a="http://schemas.openxmlformats.org/drawingml/2006/main">
            <a:off x="10744200" y="3209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Dashboard</a:t>
            </a:r>
          </a:p>
        </p:txBody>
      </p:sp>
      <p:sp>
        <p:nvSpPr>
          <p:cNvPr id="23" name="">
            <a:extLst xmlns:a="http://schemas.openxmlformats.org/drawingml/2006/main">
              <a:ext uri="{FF2B5EF4-FFF2-40B4-BE49-F238E27FC236}">
                <a16:creationId xmlns:a16="http://schemas.microsoft.com/office/drawing/2014/main" id="{47068081-6366-44DF-8E86-3E323BABCB87}"/>
              </a:ext>
            </a:extLst>
          </p:cNvPr>
          <p:cNvSpPr>
            <a:spLocks xmlns:a="http://schemas.openxmlformats.org/drawingml/2006/main" noGrp="1"/>
          </p:cNvSpPr>
          <p:nvPr/>
        </p:nvSpPr>
        <p:spPr>
          <a:xfrm xmlns:a="http://schemas.openxmlformats.org/drawingml/2006/main">
            <a:off x="10744200" y="3810000"/>
            <a:ext cx="1371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overdue visits + referrals</a:t>
            </a:r>
          </a:p>
        </p:txBody>
      </p:sp>
      <p:sp>
        <p:nvSpPr>
          <p:cNvPr id="24" name="">
            <a:extLst xmlns:a="http://schemas.openxmlformats.org/drawingml/2006/main">
              <a:ext uri="{FF2B5EF4-FFF2-40B4-BE49-F238E27FC236}">
                <a16:creationId xmlns:a16="http://schemas.microsoft.com/office/drawing/2014/main" id="{6C27566D-C85D-452E-834C-214DF8D2D721}"/>
              </a:ext>
            </a:extLst>
          </p:cNvPr>
          <p:cNvSpPr>
            <a:spLocks xmlns:a="http://schemas.openxmlformats.org/drawingml/2006/main" noGrp="1"/>
          </p:cNvSpPr>
          <p:nvPr/>
        </p:nvSpPr>
        <p:spPr>
          <a:xfrm xmlns:a="http://schemas.openxmlformats.org/drawingml/2006/main">
            <a:off x="1628775" y="5857875"/>
            <a:ext cx="995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028"/>
          </a:bodyPr>
          <a:lstStyle xmlns:a="http://schemas.openxmlformats.org/drawingml/2006/main"/>
          <a:p xmlns:a="http://schemas.openxmlformats.org/drawingml/2006/main">
            <a:pPr algn="ctr">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Feature map: pictorial checklists, pre-loaded audio, regional language support, visit tracking, vaccination reminders, referral alerts.</a:t>
            </a:r>
          </a:p>
        </p:txBody>
      </p:sp>
    </p:spTree>
    <p:extLst>
      <p:ext uri="{BB962C8B-B14F-4D97-AF65-F5344CB8AC3E}">
        <p14:creationId xmlns:p14="http://schemas.microsoft.com/office/powerpoint/2010/main" val="10577599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AAC2928-830F-4FF9-BC90-0976960E509A}"/>
              </a:ext>
            </a:extLst>
          </p:cNvPr>
          <p:cNvSpPr>
            <a:spLocks xmlns:a="http://schemas.openxmlformats.org/drawingml/2006/main" noGrp="1"/>
          </p:cNvSpPr>
          <p:nvPr/>
        </p:nvSpPr>
        <p:spPr>
          <a:xfrm xmlns:a="http://schemas.openxmlformats.org/drawingml/2006/main">
            <a:off x="1152525" y="1104900"/>
            <a:ext cx="9953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925" b="0">
                <a:solidFill>
                  <a:srgbClr val="000000"/>
                </a:solidFill>
                <a:latin typeface="Helvetica Neue"/>
                <a:ea typeface="Helvetica Neue"/>
                <a:cs typeface="Helvetica Neue"/>
              </a:defRPr>
            </a:pPr>
            <a:r>
              <a:rPr sz="2925" b="0">
                <a:solidFill>
                  <a:srgbClr val="000000"/>
                </a:solidFill>
                <a:latin typeface="Helvetica Neue"/>
                <a:ea typeface="Helvetica Neue"/>
                <a:cs typeface="Helvetica Neue"/>
              </a:rPr>
              <a:t>The main finding is also the main gap</a:t>
            </a:r>
          </a:p>
        </p:txBody>
      </p:sp>
      <p:sp>
        <p:nvSpPr>
          <p:cNvPr id="2" name="">
            <a:extLst xmlns:a="http://schemas.openxmlformats.org/drawingml/2006/main">
              <a:ext uri="{FF2B5EF4-FFF2-40B4-BE49-F238E27FC236}">
                <a16:creationId xmlns:a16="http://schemas.microsoft.com/office/drawing/2014/main" id="{529906DF-C43B-45C6-9CA9-EDF34D9893FD}"/>
              </a:ext>
            </a:extLst>
          </p:cNvPr>
          <p:cNvSpPr>
            <a:spLocks xmlns:a="http://schemas.openxmlformats.org/drawingml/2006/main" noGrp="1"/>
          </p:cNvSpPr>
          <p:nvPr/>
        </p:nvSpPr>
        <p:spPr>
          <a:xfrm xmlns:a="http://schemas.openxmlformats.org/drawingml/2006/main">
            <a:off x="12039600" y="7038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98718"/>
          </a:bodyPr>
          <a:lstStyle xmlns:a="http://schemas.openxmlformats.org/drawingml/2006/main"/>
          <a:p xmlns:a="http://schemas.openxmlformats.org/drawingml/2006/main">
            <a:pPr algn="r">
              <a:defRPr sz="975" b="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BBF4D367-5C3F-44DA-A629-9300128C1163}"/>
              </a:ext>
            </a:extLst>
          </p:cNvPr>
          <p:cNvSpPr>
            <a:spLocks xmlns:a="http://schemas.openxmlformats.org/drawingml/2006/main" noGrp="1"/>
          </p:cNvSpPr>
          <p:nvPr/>
        </p:nvSpPr>
        <p:spPr>
          <a:xfrm xmlns:a="http://schemas.openxmlformats.org/drawingml/2006/main">
            <a:off x="1543050" y="2476500"/>
            <a:ext cx="9715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No peer-reviewed study in the review tested this exact CHW-plus-mHealth model inside a Sylhet tea garden.</a:t>
            </a:r>
          </a:p>
        </p:txBody>
      </p:sp>
      <p:sp>
        <p:nvSpPr>
          <p:cNvPr id="4" name="">
            <a:extLst xmlns:a="http://schemas.openxmlformats.org/drawingml/2006/main">
              <a:ext uri="{FF2B5EF4-FFF2-40B4-BE49-F238E27FC236}">
                <a16:creationId xmlns:a16="http://schemas.microsoft.com/office/drawing/2014/main" id="{0F895EB0-F097-4B94-AD81-C5EAD9255B64}"/>
              </a:ext>
            </a:extLst>
          </p:cNvPr>
          <p:cNvSpPr>
            <a:spLocks xmlns:a="http://schemas.openxmlformats.org/drawingml/2006/main" noGrp="1"/>
          </p:cNvSpPr>
          <p:nvPr/>
        </p:nvSpPr>
        <p:spPr>
          <a:xfrm xmlns:a="http://schemas.openxmlformats.org/drawingml/2006/main">
            <a:off x="1447800" y="4495800"/>
            <a:ext cx="3143250" cy="13811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8C1843-243E-4D6A-AF21-4A63C79556D7}"/>
              </a:ext>
            </a:extLst>
          </p:cNvPr>
          <p:cNvSpPr>
            <a:spLocks xmlns:a="http://schemas.openxmlformats.org/drawingml/2006/main" noGrp="1"/>
          </p:cNvSpPr>
          <p:nvPr/>
        </p:nvSpPr>
        <p:spPr>
          <a:xfrm xmlns:a="http://schemas.openxmlformats.org/drawingml/2006/main">
            <a:off x="1447800" y="4495800"/>
            <a:ext cx="66675" cy="13811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B2A99E3C-EDCB-49CB-B676-CCBDDB23533F}"/>
              </a:ext>
            </a:extLst>
          </p:cNvPr>
          <p:cNvSpPr>
            <a:spLocks xmlns:a="http://schemas.openxmlformats.org/drawingml/2006/main" noGrp="1"/>
          </p:cNvSpPr>
          <p:nvPr/>
        </p:nvSpPr>
        <p:spPr>
          <a:xfrm xmlns:a="http://schemas.openxmlformats.org/drawingml/2006/main">
            <a:off x="1695450" y="4724400"/>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Setting transfer</a:t>
            </a:r>
          </a:p>
        </p:txBody>
      </p:sp>
      <p:sp>
        <p:nvSpPr>
          <p:cNvPr id="7" name="">
            <a:extLst xmlns:a="http://schemas.openxmlformats.org/drawingml/2006/main">
              <a:ext uri="{FF2B5EF4-FFF2-40B4-BE49-F238E27FC236}">
                <a16:creationId xmlns:a16="http://schemas.microsoft.com/office/drawing/2014/main" id="{A652486A-D24D-43BF-A2EE-8C3C621D738F}"/>
              </a:ext>
            </a:extLst>
          </p:cNvPr>
          <p:cNvSpPr>
            <a:spLocks xmlns:a="http://schemas.openxmlformats.org/drawingml/2006/main" noGrp="1"/>
          </p:cNvSpPr>
          <p:nvPr/>
        </p:nvSpPr>
        <p:spPr>
          <a:xfrm xmlns:a="http://schemas.openxmlformats.org/drawingml/2006/main">
            <a:off x="1695450" y="5229225"/>
            <a:ext cx="2647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4945"/>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Rural villages, urban slums, and East African farming contexts are useful but not identical.</a:t>
            </a:r>
          </a:p>
        </p:txBody>
      </p:sp>
      <p:sp>
        <p:nvSpPr>
          <p:cNvPr id="8" name="">
            <a:extLst xmlns:a="http://schemas.openxmlformats.org/drawingml/2006/main">
              <a:ext uri="{FF2B5EF4-FFF2-40B4-BE49-F238E27FC236}">
                <a16:creationId xmlns:a16="http://schemas.microsoft.com/office/drawing/2014/main" id="{75F5D2C4-0E05-4265-976C-8829319EB6B2}"/>
              </a:ext>
            </a:extLst>
          </p:cNvPr>
          <p:cNvSpPr>
            <a:spLocks xmlns:a="http://schemas.openxmlformats.org/drawingml/2006/main" noGrp="1"/>
          </p:cNvSpPr>
          <p:nvPr/>
        </p:nvSpPr>
        <p:spPr>
          <a:xfrm xmlns:a="http://schemas.openxmlformats.org/drawingml/2006/main">
            <a:off x="5114925" y="4495800"/>
            <a:ext cx="3143250" cy="13811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DA0F3D-C003-459D-8E3E-CE16C6E26966}"/>
              </a:ext>
            </a:extLst>
          </p:cNvPr>
          <p:cNvSpPr>
            <a:spLocks xmlns:a="http://schemas.openxmlformats.org/drawingml/2006/main" noGrp="1"/>
          </p:cNvSpPr>
          <p:nvPr/>
        </p:nvSpPr>
        <p:spPr>
          <a:xfrm xmlns:a="http://schemas.openxmlformats.org/drawingml/2006/main">
            <a:off x="5114925" y="4495800"/>
            <a:ext cx="66675" cy="1381125"/>
          </a:xfrm>
          <a:prstGeom xmlns:a="http://schemas.openxmlformats.org/drawingml/2006/main" prst="rect">
            <a:avLst/>
          </a:prstGeom>
          <a:solidFill xmlns:a="http://schemas.openxmlformats.org/drawingml/2006/main">
            <a:srgbClr val="2B8A67"/>
          </a:solidFill>
          <a:ln xmlns:a="http://schemas.openxmlformats.org/drawingml/2006/main" w="9525">
            <a:solidFill>
              <a:srgbClr val="2B8A67"/>
            </a:solidFill>
            <a:prstDash val="solid"/>
          </a:ln>
        </p:spPr>
      </p:sp>
      <p:sp>
        <p:nvSpPr>
          <p:cNvPr id="10" name="">
            <a:extLst xmlns:a="http://schemas.openxmlformats.org/drawingml/2006/main">
              <a:ext uri="{FF2B5EF4-FFF2-40B4-BE49-F238E27FC236}">
                <a16:creationId xmlns:a16="http://schemas.microsoft.com/office/drawing/2014/main" id="{568E1025-0229-4E24-964E-55508A79A730}"/>
              </a:ext>
            </a:extLst>
          </p:cNvPr>
          <p:cNvSpPr>
            <a:spLocks xmlns:a="http://schemas.openxmlformats.org/drawingml/2006/main" noGrp="1"/>
          </p:cNvSpPr>
          <p:nvPr/>
        </p:nvSpPr>
        <p:spPr>
          <a:xfrm xmlns:a="http://schemas.openxmlformats.org/drawingml/2006/main">
            <a:off x="5362575" y="4724400"/>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Language uncertainty</a:t>
            </a:r>
          </a:p>
        </p:txBody>
      </p:sp>
      <p:sp>
        <p:nvSpPr>
          <p:cNvPr id="11" name="">
            <a:extLst xmlns:a="http://schemas.openxmlformats.org/drawingml/2006/main">
              <a:ext uri="{FF2B5EF4-FFF2-40B4-BE49-F238E27FC236}">
                <a16:creationId xmlns:a16="http://schemas.microsoft.com/office/drawing/2014/main" id="{D0A3B021-EA19-419B-AC55-D3533B51CF9C}"/>
              </a:ext>
            </a:extLst>
          </p:cNvPr>
          <p:cNvSpPr>
            <a:spLocks xmlns:a="http://schemas.openxmlformats.org/drawingml/2006/main" noGrp="1"/>
          </p:cNvSpPr>
          <p:nvPr/>
        </p:nvSpPr>
        <p:spPr>
          <a:xfrm xmlns:a="http://schemas.openxmlformats.org/drawingml/2006/main">
            <a:off x="5362575" y="5229225"/>
            <a:ext cx="2647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403"/>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Chattisheuli and tribal languages need direct interface testing.</a:t>
            </a:r>
          </a:p>
        </p:txBody>
      </p:sp>
      <p:sp>
        <p:nvSpPr>
          <p:cNvPr id="12" name="">
            <a:extLst xmlns:a="http://schemas.openxmlformats.org/drawingml/2006/main">
              <a:ext uri="{FF2B5EF4-FFF2-40B4-BE49-F238E27FC236}">
                <a16:creationId xmlns:a16="http://schemas.microsoft.com/office/drawing/2014/main" id="{44774682-ECA3-4F52-BA86-869A091EC635}"/>
              </a:ext>
            </a:extLst>
          </p:cNvPr>
          <p:cNvSpPr>
            <a:spLocks xmlns:a="http://schemas.openxmlformats.org/drawingml/2006/main" noGrp="1"/>
          </p:cNvSpPr>
          <p:nvPr/>
        </p:nvSpPr>
        <p:spPr>
          <a:xfrm xmlns:a="http://schemas.openxmlformats.org/drawingml/2006/main">
            <a:off x="8782050" y="4495800"/>
            <a:ext cx="3143250" cy="1381125"/>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2383BC-6F5B-4002-8224-FDC6A9C0F786}"/>
              </a:ext>
            </a:extLst>
          </p:cNvPr>
          <p:cNvSpPr>
            <a:spLocks xmlns:a="http://schemas.openxmlformats.org/drawingml/2006/main" noGrp="1"/>
          </p:cNvSpPr>
          <p:nvPr/>
        </p:nvSpPr>
        <p:spPr>
          <a:xfrm xmlns:a="http://schemas.openxmlformats.org/drawingml/2006/main">
            <a:off x="8782050" y="4495800"/>
            <a:ext cx="66675" cy="1381125"/>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8E5565C2-D291-4C35-8062-7A403EAF8A64}"/>
              </a:ext>
            </a:extLst>
          </p:cNvPr>
          <p:cNvSpPr>
            <a:spLocks xmlns:a="http://schemas.openxmlformats.org/drawingml/2006/main" noGrp="1"/>
          </p:cNvSpPr>
          <p:nvPr/>
        </p:nvSpPr>
        <p:spPr>
          <a:xfrm xmlns:a="http://schemas.openxmlformats.org/drawingml/2006/main">
            <a:off x="9029700" y="4724400"/>
            <a:ext cx="2647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Study design</a:t>
            </a:r>
          </a:p>
        </p:txBody>
      </p:sp>
      <p:sp>
        <p:nvSpPr>
          <p:cNvPr id="15" name="">
            <a:extLst xmlns:a="http://schemas.openxmlformats.org/drawingml/2006/main">
              <a:ext uri="{FF2B5EF4-FFF2-40B4-BE49-F238E27FC236}">
                <a16:creationId xmlns:a16="http://schemas.microsoft.com/office/drawing/2014/main" id="{D9E1F9A6-BC85-4C0C-B2A1-5DB9E770F3E7}"/>
              </a:ext>
            </a:extLst>
          </p:cNvPr>
          <p:cNvSpPr>
            <a:spLocks xmlns:a="http://schemas.openxmlformats.org/drawingml/2006/main" noGrp="1"/>
          </p:cNvSpPr>
          <p:nvPr/>
        </p:nvSpPr>
        <p:spPr>
          <a:xfrm xmlns:a="http://schemas.openxmlformats.org/drawingml/2006/main">
            <a:off x="9029700" y="5229225"/>
            <a:ext cx="26479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008"/>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Evidence ranges from RCTs to small usability studies, so pooled precision would mislead.</a:t>
            </a:r>
          </a:p>
        </p:txBody>
      </p:sp>
    </p:spTree>
    <p:extLst>
      <p:ext uri="{BB962C8B-B14F-4D97-AF65-F5344CB8AC3E}">
        <p14:creationId xmlns:p14="http://schemas.microsoft.com/office/powerpoint/2010/main" val="1236198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Rectangle 1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
            <a:extLst xmlns:a="http://schemas.openxmlformats.org/drawingml/2006/main">
              <a:ext uri="{FF2B5EF4-FFF2-40B4-BE49-F238E27FC236}">
                <a16:creationId xmlns:a16="http://schemas.microsoft.com/office/drawing/2014/main" id="{D97B3B9F-437F-4544-9198-D54A3B10E050}"/>
              </a:ext>
            </a:extLst>
          </p:cNvPr>
          <p:cNvSpPr>
            <a:spLocks xmlns:a="http://schemas.openxmlformats.org/drawingml/2006/main" noGrp="1"/>
          </p:cNvSpPr>
          <p:nvPr/>
        </p:nvSpPr>
        <p:spPr>
          <a:xfrm xmlns:a="http://schemas.openxmlformats.org/drawingml/2006/main">
            <a:off x="1152525" y="1152525"/>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Cautious yes</a:t>
            </a:r>
          </a:p>
        </p:txBody>
      </p:sp>
      <p:sp>
        <p:nvSpPr>
          <p:cNvPr id="2" name="">
            <a:extLst xmlns:a="http://schemas.openxmlformats.org/drawingml/2006/main">
              <a:ext uri="{FF2B5EF4-FFF2-40B4-BE49-F238E27FC236}">
                <a16:creationId xmlns:a16="http://schemas.microsoft.com/office/drawing/2014/main" id="{E6CCD595-3354-46A6-9F09-43D1E0FCE540}"/>
              </a:ext>
            </a:extLst>
          </p:cNvPr>
          <p:cNvSpPr>
            <a:spLocks xmlns:a="http://schemas.openxmlformats.org/drawingml/2006/main" noGrp="1"/>
          </p:cNvSpPr>
          <p:nvPr/>
        </p:nvSpPr>
        <p:spPr>
          <a:xfrm xmlns:a="http://schemas.openxmlformats.org/drawingml/2006/main">
            <a:off x="1152525" y="2714625"/>
            <a:ext cx="962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normAutofit fontScale="100000"/>
          </a:bodyPr>
          <a:lstStyle xmlns:a="http://schemas.openxmlformats.org/drawingml/2006/main"/>
          <a:p xmlns:a="http://schemas.openxmlformats.org/drawingml/2006/main">
            <a:pPr algn="l">
              <a:defRPr sz="4050" b="0">
                <a:solidFill>
                  <a:srgbClr val="000000"/>
                </a:solidFill>
                <a:latin typeface="Helvetica Neue"/>
                <a:ea typeface="Helvetica Neue"/>
                <a:cs typeface="Helvetica Neue"/>
              </a:defRPr>
            </a:pPr>
            <a:r>
              <a:rPr sz="4050" b="0">
                <a:solidFill>
                  <a:srgbClr val="000000"/>
                </a:solidFill>
                <a:latin typeface="Helvetica Neue"/>
                <a:ea typeface="Helvetica Neue"/>
                <a:cs typeface="Helvetica Neue"/>
              </a:rPr>
              <a:t>The evidence supports co-design and field testing, not immediate deployment.</a:t>
            </a:r>
          </a:p>
        </p:txBody>
      </p:sp>
      <p:sp>
        <p:nvSpPr>
          <p:cNvPr id="3" name="">
            <a:extLst xmlns:a="http://schemas.openxmlformats.org/drawingml/2006/main">
              <a:ext uri="{FF2B5EF4-FFF2-40B4-BE49-F238E27FC236}">
                <a16:creationId xmlns:a16="http://schemas.microsoft.com/office/drawing/2014/main" id="{2324566E-E7D8-4E00-B052-A8A6CFF171B2}"/>
              </a:ext>
            </a:extLst>
          </p:cNvPr>
          <p:cNvSpPr>
            <a:spLocks xmlns:a="http://schemas.openxmlformats.org/drawingml/2006/main" noGrp="1"/>
          </p:cNvSpPr>
          <p:nvPr/>
        </p:nvSpPr>
        <p:spPr>
          <a:xfrm xmlns:a="http://schemas.openxmlformats.org/drawingml/2006/main">
            <a:off x="1181100" y="49530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B6150FB5-C2B7-4872-BEB1-9083700B0A26}"/>
              </a:ext>
            </a:extLst>
          </p:cNvPr>
          <p:cNvSpPr>
            <a:spLocks xmlns:a="http://schemas.openxmlformats.org/drawingml/2006/main" noGrp="1"/>
          </p:cNvSpPr>
          <p:nvPr/>
        </p:nvSpPr>
        <p:spPr>
          <a:xfrm xmlns:a="http://schemas.openxmlformats.org/drawingml/2006/main">
            <a:off x="1638300" y="495300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848"/>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Co-design with tea-garden mothers and CHWs</a:t>
            </a:r>
          </a:p>
        </p:txBody>
      </p:sp>
      <p:sp>
        <p:nvSpPr>
          <p:cNvPr id="5" name="">
            <a:extLst xmlns:a="http://schemas.openxmlformats.org/drawingml/2006/main">
              <a:ext uri="{FF2B5EF4-FFF2-40B4-BE49-F238E27FC236}">
                <a16:creationId xmlns:a16="http://schemas.microsoft.com/office/drawing/2014/main" id="{DFDF0828-556E-4734-BFC7-D497BD8883EA}"/>
              </a:ext>
            </a:extLst>
          </p:cNvPr>
          <p:cNvSpPr>
            <a:spLocks xmlns:a="http://schemas.openxmlformats.org/drawingml/2006/main" noGrp="1"/>
          </p:cNvSpPr>
          <p:nvPr/>
        </p:nvSpPr>
        <p:spPr>
          <a:xfrm xmlns:a="http://schemas.openxmlformats.org/drawingml/2006/main">
            <a:off x="1181100" y="536257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EA118EC8-B78F-4E0A-8F61-99AB995FF7E9}"/>
              </a:ext>
            </a:extLst>
          </p:cNvPr>
          <p:cNvSpPr>
            <a:spLocks xmlns:a="http://schemas.openxmlformats.org/drawingml/2006/main" noGrp="1"/>
          </p:cNvSpPr>
          <p:nvPr/>
        </p:nvSpPr>
        <p:spPr>
          <a:xfrm xmlns:a="http://schemas.openxmlformats.org/drawingml/2006/main">
            <a:off x="1638300" y="536257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848"/>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Map phones, sharing, network reliability, and language use</a:t>
            </a:r>
          </a:p>
        </p:txBody>
      </p:sp>
      <p:sp>
        <p:nvSpPr>
          <p:cNvPr id="7" name="">
            <a:extLst xmlns:a="http://schemas.openxmlformats.org/drawingml/2006/main">
              <a:ext uri="{FF2B5EF4-FFF2-40B4-BE49-F238E27FC236}">
                <a16:creationId xmlns:a16="http://schemas.microsoft.com/office/drawing/2014/main" id="{41CC0EEC-FF69-4605-8243-0F9F70FF5FC6}"/>
              </a:ext>
            </a:extLst>
          </p:cNvPr>
          <p:cNvSpPr>
            <a:spLocks xmlns:a="http://schemas.openxmlformats.org/drawingml/2006/main" noGrp="1"/>
          </p:cNvSpPr>
          <p:nvPr/>
        </p:nvSpPr>
        <p:spPr>
          <a:xfrm xmlns:a="http://schemas.openxmlformats.org/drawingml/2006/main">
            <a:off x="1181100" y="57721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3E4A651C-8361-4854-A581-40FABD6E3891}"/>
              </a:ext>
            </a:extLst>
          </p:cNvPr>
          <p:cNvSpPr>
            <a:spLocks xmlns:a="http://schemas.openxmlformats.org/drawingml/2006/main" noGrp="1"/>
          </p:cNvSpPr>
          <p:nvPr/>
        </p:nvSpPr>
        <p:spPr>
          <a:xfrm xmlns:a="http://schemas.openxmlformats.org/drawingml/2006/main">
            <a:off x="1638300" y="5772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848"/>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Run a cluster or stepped-wedge field trial</a:t>
            </a:r>
          </a:p>
        </p:txBody>
      </p:sp>
      <p:sp>
        <p:nvSpPr>
          <p:cNvPr id="9" name="">
            <a:extLst xmlns:a="http://schemas.openxmlformats.org/drawingml/2006/main">
              <a:ext uri="{FF2B5EF4-FFF2-40B4-BE49-F238E27FC236}">
                <a16:creationId xmlns:a16="http://schemas.microsoft.com/office/drawing/2014/main" id="{F2F0B8E5-A161-4159-9ADF-FCB64FDE6842}"/>
              </a:ext>
            </a:extLst>
          </p:cNvPr>
          <p:cNvSpPr>
            <a:spLocks xmlns:a="http://schemas.openxmlformats.org/drawingml/2006/main" noGrp="1"/>
          </p:cNvSpPr>
          <p:nvPr/>
        </p:nvSpPr>
        <p:spPr>
          <a:xfrm xmlns:a="http://schemas.openxmlformats.org/drawingml/2006/main">
            <a:off x="1181100" y="61817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0952"/>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4</a:t>
            </a:r>
          </a:p>
        </p:txBody>
      </p:sp>
      <p:sp>
        <p:nvSpPr>
          <p:cNvPr id="10" name="">
            <a:extLst xmlns:a="http://schemas.openxmlformats.org/drawingml/2006/main">
              <a:ext uri="{FF2B5EF4-FFF2-40B4-BE49-F238E27FC236}">
                <a16:creationId xmlns:a16="http://schemas.microsoft.com/office/drawing/2014/main" id="{CF1FF80E-6CF4-4407-B016-4FEE03FFACBE}"/>
              </a:ext>
            </a:extLst>
          </p:cNvPr>
          <p:cNvSpPr>
            <a:spLocks xmlns:a="http://schemas.openxmlformats.org/drawingml/2006/main" noGrp="1"/>
          </p:cNvSpPr>
          <p:nvPr/>
        </p:nvSpPr>
        <p:spPr>
          <a:xfrm xmlns:a="http://schemas.openxmlformats.org/drawingml/2006/main">
            <a:off x="1638300" y="618172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848"/>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Plan the handoff before the pilot ends</a:t>
            </a:r>
          </a:p>
        </p:txBody>
      </p:sp>
    </p:spTree>
    <p:extLst>
      <p:ext uri="{BB962C8B-B14F-4D97-AF65-F5344CB8AC3E}">
        <p14:creationId xmlns:p14="http://schemas.microsoft.com/office/powerpoint/2010/main" val="13475565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2026-08-09T07:26:30.0550000Z</dcterms:created>
  <dcterms:modified xsi:type="dcterms:W3CDTF">2026-08-09T07:26:30.0550000Z</dcterms:modified>
</coreProperties>
</file>